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 id="287" r:id="rId9"/>
    <p:sldId id="262" r:id="rId10"/>
    <p:sldId id="288" r:id="rId11"/>
    <p:sldId id="263" r:id="rId12"/>
    <p:sldId id="271" r:id="rId13"/>
    <p:sldId id="279" r:id="rId14"/>
    <p:sldId id="280" r:id="rId15"/>
    <p:sldId id="300" r:id="rId16"/>
    <p:sldId id="264" r:id="rId17"/>
    <p:sldId id="265" r:id="rId18"/>
    <p:sldId id="266" r:id="rId19"/>
    <p:sldId id="267" r:id="rId20"/>
    <p:sldId id="268" r:id="rId21"/>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CC66"/>
    <a:srgbClr val="FC02FF"/>
    <a:srgbClr val="21FF80"/>
    <a:srgbClr val="E1944A"/>
    <a:srgbClr val="996633"/>
    <a:srgbClr val="0F80FF"/>
    <a:srgbClr val="FD8008"/>
    <a:srgbClr val="6666FF"/>
    <a:srgbClr val="8E8E8E"/>
    <a:srgbClr val="4242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jpe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jpeg"/></Relationships>
</file>

<file path=ppt/slides/_rels/slide6.xml.rels><?xml version="1.0" encoding="UTF-8" standalone="yes"?>
<Relationships xmlns="http://schemas.openxmlformats.org/package/2006/relationships"><Relationship Id="rId8" Type="http://schemas.openxmlformats.org/officeDocument/2006/relationships/slideLayout" Target="../slideLayouts/slideLayout1.xml"/><Relationship Id="rId7" Type="http://schemas.openxmlformats.org/officeDocument/2006/relationships/image" Target="../media/image13.png"/><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3.png"/><Relationship Id="rId7" Type="http://schemas.openxmlformats.org/officeDocument/2006/relationships/image" Target="../media/image22.png"/><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5.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6.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14.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1.jpeg"/><Relationship Id="rId3" Type="http://schemas.openxmlformats.org/officeDocument/2006/relationships/image" Target="../media/image30.jpeg"/><Relationship Id="rId2" Type="http://schemas.openxmlformats.org/officeDocument/2006/relationships/image" Target="../media/image29.jpeg"/><Relationship Id="rId1" Type="http://schemas.openxmlformats.org/officeDocument/2006/relationships/image" Target="../media/image28.jpe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2.jpe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3.jpe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4.jpe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5.jpe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6.jpeg"/><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4" name="Text Box 3"/>
          <p:cNvSpPr txBox="1"/>
          <p:nvPr/>
        </p:nvSpPr>
        <p:spPr>
          <a:xfrm>
            <a:off x="5050790" y="1198245"/>
            <a:ext cx="7141210" cy="1106805"/>
          </a:xfrm>
          <a:prstGeom prst="rect">
            <a:avLst/>
          </a:prstGeom>
          <a:noFill/>
        </p:spPr>
        <p:txBody>
          <a:bodyPr wrap="square" rtlCol="0" anchor="t">
            <a:spAutoFit/>
          </a:bodyPr>
          <a:p>
            <a:pPr algn="ctr"/>
            <a:r>
              <a:rPr lang="en-US" sz="6600">
                <a:ln>
                  <a:noFill/>
                </a:ln>
                <a:gradFill>
                  <a:gsLst>
                    <a:gs pos="50000">
                      <a:srgbClr val="92D050">
                        <a:alpha val="100000"/>
                      </a:srgbClr>
                    </a:gs>
                    <a:gs pos="0">
                      <a:srgbClr val="00B050">
                        <a:alpha val="100000"/>
                      </a:srgbClr>
                    </a:gs>
                    <a:gs pos="100000">
                      <a:srgbClr val="FAEF56"/>
                    </a:gs>
                  </a:gsLst>
                  <a:lin scaled="0"/>
                </a:gradFill>
                <a:latin typeface="Arial Black" panose="020B0A04020102020204" charset="0"/>
                <a:cs typeface="Arial Black" panose="020B0A04020102020204" charset="0"/>
              </a:rPr>
              <a:t>Prakriti Seva</a:t>
            </a:r>
            <a:endParaRPr lang="en-US" sz="6600">
              <a:ln>
                <a:noFill/>
              </a:ln>
              <a:gradFill>
                <a:gsLst>
                  <a:gs pos="50000">
                    <a:srgbClr val="92D050">
                      <a:alpha val="100000"/>
                    </a:srgbClr>
                  </a:gs>
                  <a:gs pos="0">
                    <a:srgbClr val="00B050">
                      <a:alpha val="100000"/>
                    </a:srgbClr>
                  </a:gs>
                  <a:gs pos="100000">
                    <a:srgbClr val="FAEF56"/>
                  </a:gs>
                </a:gsLst>
                <a:lin scaled="0"/>
              </a:gradFill>
              <a:latin typeface="Arial Black" panose="020B0A04020102020204" charset="0"/>
              <a:cs typeface="Arial Black" panose="020B0A04020102020204" charset="0"/>
            </a:endParaRPr>
          </a:p>
        </p:txBody>
      </p:sp>
      <p:pic>
        <p:nvPicPr>
          <p:cNvPr id="5" name="Picture 4" descr="F0iskOlELO3t4cmQTwFCP"/>
          <p:cNvPicPr>
            <a:picLocks noChangeAspect="1"/>
          </p:cNvPicPr>
          <p:nvPr/>
        </p:nvPicPr>
        <p:blipFill>
          <a:blip r:embed="rId1"/>
          <a:srcRect l="2693" r="7810"/>
          <a:stretch>
            <a:fillRect/>
          </a:stretch>
        </p:blipFill>
        <p:spPr>
          <a:xfrm>
            <a:off x="653415" y="768350"/>
            <a:ext cx="4296410" cy="5321935"/>
          </a:xfrm>
          <a:prstGeom prst="rect">
            <a:avLst/>
          </a:prstGeom>
        </p:spPr>
      </p:pic>
      <p:sp>
        <p:nvSpPr>
          <p:cNvPr id="7" name="Text Box 6"/>
          <p:cNvSpPr txBox="1"/>
          <p:nvPr/>
        </p:nvSpPr>
        <p:spPr>
          <a:xfrm>
            <a:off x="4870450" y="4237990"/>
            <a:ext cx="7321550" cy="706755"/>
          </a:xfrm>
          <a:prstGeom prst="rect">
            <a:avLst/>
          </a:prstGeom>
          <a:noFill/>
        </p:spPr>
        <p:txBody>
          <a:bodyPr wrap="square" rtlCol="0" anchor="t">
            <a:spAutoFit/>
          </a:bodyPr>
          <a:p>
            <a:pPr algn="ctr"/>
            <a:r>
              <a:rPr lang="en-US" sz="2000">
                <a:solidFill>
                  <a:schemeClr val="bg1"/>
                </a:solidFill>
                <a:latin typeface="Times New Roman Regular" panose="02020603050405020304" charset="0"/>
                <a:cs typeface="Times New Roman Regular" panose="02020603050405020304" charset="0"/>
              </a:rPr>
              <a:t>Department of  Computer Science and Technology &amp; Computer Science and Information Technology</a:t>
            </a:r>
            <a:endParaRPr lang="en-US" sz="2000">
              <a:solidFill>
                <a:schemeClr val="bg1"/>
              </a:solidFill>
              <a:latin typeface="Times New Roman Regular" panose="02020603050405020304" charset="0"/>
              <a:cs typeface="Times New Roman Regular" panose="02020603050405020304" charset="0"/>
            </a:endParaRPr>
          </a:p>
        </p:txBody>
      </p:sp>
      <p:sp>
        <p:nvSpPr>
          <p:cNvPr id="8" name="Text Box 7"/>
          <p:cNvSpPr txBox="1"/>
          <p:nvPr/>
        </p:nvSpPr>
        <p:spPr>
          <a:xfrm>
            <a:off x="5050155" y="5213985"/>
            <a:ext cx="7141845" cy="706755"/>
          </a:xfrm>
          <a:prstGeom prst="rect">
            <a:avLst/>
          </a:prstGeom>
          <a:noFill/>
        </p:spPr>
        <p:txBody>
          <a:bodyPr wrap="square" rtlCol="0" anchor="t">
            <a:spAutoFit/>
          </a:bodyPr>
          <a:p>
            <a:pPr algn="ctr"/>
            <a:r>
              <a:rPr lang="en-US" sz="2000">
                <a:solidFill>
                  <a:schemeClr val="bg1"/>
                </a:solidFill>
                <a:latin typeface="Arial Black" panose="020B0A04020102020204" charset="0"/>
                <a:cs typeface="Arial Black" panose="020B0A04020102020204" charset="0"/>
              </a:rPr>
              <a:t>UNIVERSITY OF ENGINEERING &amp; MANAGEMENT, KOLKATA</a:t>
            </a:r>
            <a:endParaRPr lang="en-US" sz="2000">
              <a:solidFill>
                <a:schemeClr val="bg1"/>
              </a:solidFill>
              <a:latin typeface="Arial Black" panose="020B0A04020102020204" charset="0"/>
              <a:cs typeface="Arial Black" panose="020B0A04020102020204" charset="0"/>
            </a:endParaRPr>
          </a:p>
        </p:txBody>
      </p:sp>
      <p:sp>
        <p:nvSpPr>
          <p:cNvPr id="9" name="Text Box 8"/>
          <p:cNvSpPr txBox="1"/>
          <p:nvPr/>
        </p:nvSpPr>
        <p:spPr>
          <a:xfrm>
            <a:off x="5050790" y="2400300"/>
            <a:ext cx="7141210" cy="706755"/>
          </a:xfrm>
          <a:prstGeom prst="rect">
            <a:avLst/>
          </a:prstGeom>
          <a:noFill/>
        </p:spPr>
        <p:txBody>
          <a:bodyPr wrap="square" rtlCol="0" anchor="t">
            <a:spAutoFit/>
          </a:bodyPr>
          <a:p>
            <a:pPr algn="ctr"/>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Empowering Grassroots Environmental Action with Technology</a:t>
            </a:r>
            <a:endPar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10" name="Text Box 9"/>
          <p:cNvSpPr txBox="1"/>
          <p:nvPr/>
        </p:nvSpPr>
        <p:spPr>
          <a:xfrm>
            <a:off x="5183505" y="3202305"/>
            <a:ext cx="7008495" cy="922020"/>
          </a:xfrm>
          <a:prstGeom prst="rect">
            <a:avLst/>
          </a:prstGeom>
          <a:noFill/>
        </p:spPr>
        <p:txBody>
          <a:bodyPr wrap="square" rtlCol="0" anchor="t">
            <a:spAutoFit/>
          </a:bodyPr>
          <a:p>
            <a:pPr algn="ctr"/>
            <a:r>
              <a:rPr lang="en-US" b="1">
                <a:solidFill>
                  <a:srgbClr val="FFC000"/>
                </a:solidFill>
                <a:latin typeface="Arial Black" panose="020B0A04020102020204" charset="0"/>
                <a:cs typeface="Arial Black" panose="020B0A04020102020204" charset="0"/>
              </a:rPr>
              <a:t>Presented by-</a:t>
            </a:r>
            <a:r>
              <a:rPr lang="en-US">
                <a:solidFill>
                  <a:srgbClr val="FFC000"/>
                </a:solidFill>
                <a:latin typeface="Arial Black" panose="020B0A04020102020204" charset="0"/>
                <a:cs typeface="Arial Black" panose="020B0A04020102020204" charset="0"/>
              </a:rPr>
              <a:t> </a:t>
            </a:r>
            <a:r>
              <a:rPr lang="en-US">
                <a:solidFill>
                  <a:schemeClr val="bg1"/>
                </a:solidFill>
                <a:latin typeface="Arial Black" panose="020B0A04020102020204" charset="0"/>
                <a:cs typeface="Arial Black" panose="020B0A04020102020204" charset="0"/>
              </a:rPr>
              <a:t>Bisheshwar Dev Sharma, </a:t>
            </a:r>
            <a:r>
              <a:rPr lang="en-US">
                <a:solidFill>
                  <a:schemeClr val="bg1"/>
                </a:solidFill>
                <a:latin typeface="Arial Black" panose="020B0A04020102020204" charset="0"/>
                <a:cs typeface="Arial Black" panose="020B0A04020102020204" charset="0"/>
                <a:sym typeface="+mn-ea"/>
              </a:rPr>
              <a:t>Dipta Banik,</a:t>
            </a:r>
            <a:r>
              <a:rPr lang="en-US">
                <a:solidFill>
                  <a:schemeClr val="bg1"/>
                </a:solidFill>
                <a:latin typeface="Arial Black" panose="020B0A04020102020204" charset="0"/>
                <a:cs typeface="Arial Black" panose="020B0A04020102020204" charset="0"/>
              </a:rPr>
              <a:t> Progyajyoti Paul, </a:t>
            </a:r>
            <a:r>
              <a:rPr lang="en-US">
                <a:solidFill>
                  <a:schemeClr val="bg1"/>
                </a:solidFill>
                <a:latin typeface="Arial Black" panose="020B0A04020102020204" charset="0"/>
                <a:cs typeface="Arial Black" panose="020B0A04020102020204" charset="0"/>
                <a:sym typeface="+mn-ea"/>
              </a:rPr>
              <a:t>Paramartha Banerjee,</a:t>
            </a:r>
            <a:endParaRPr lang="en-US">
              <a:solidFill>
                <a:schemeClr val="bg1"/>
              </a:solidFill>
              <a:latin typeface="Arial Black" panose="020B0A04020102020204" charset="0"/>
              <a:cs typeface="Arial Black" panose="020B0A04020102020204" charset="0"/>
            </a:endParaRPr>
          </a:p>
          <a:p>
            <a:pPr algn="ctr"/>
            <a:r>
              <a:rPr lang="en-US">
                <a:solidFill>
                  <a:schemeClr val="bg1"/>
                </a:solidFill>
                <a:latin typeface="Arial Black" panose="020B0A04020102020204" charset="0"/>
                <a:cs typeface="Arial Black" panose="020B0A04020102020204" charset="0"/>
              </a:rPr>
              <a:t>Rangonath Banik</a:t>
            </a:r>
            <a:endParaRPr lang="en-US">
              <a:solidFill>
                <a:schemeClr val="bg1"/>
              </a:solidFill>
              <a:latin typeface="Arial Black" panose="020B0A04020102020204" charset="0"/>
              <a:cs typeface="Arial Black" panose="020B0A04020102020204" charset="0"/>
            </a:endParaRPr>
          </a:p>
        </p:txBody>
      </p:sp>
      <p:pic>
        <p:nvPicPr>
          <p:cNvPr id="11" name="Picture 10"/>
          <p:cNvPicPr>
            <a:picLocks noChangeAspect="1"/>
          </p:cNvPicPr>
          <p:nvPr/>
        </p:nvPicPr>
        <p:blipFill>
          <a:blip r:embed="rId2"/>
          <a:stretch>
            <a:fillRect/>
          </a:stretch>
        </p:blipFill>
        <p:spPr>
          <a:xfrm>
            <a:off x="7847330" y="431165"/>
            <a:ext cx="1367155" cy="838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5387975" y="274955"/>
            <a:ext cx="396684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ABSTRACT</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5387975" y="1236345"/>
            <a:ext cx="6383655" cy="5077460"/>
          </a:xfrm>
          <a:prstGeom prst="rect">
            <a:avLst/>
          </a:prstGeom>
          <a:noFill/>
        </p:spPr>
        <p:txBody>
          <a:bodyPr wrap="square" rtlCol="0" anchor="t">
            <a:spAutoFit/>
          </a:bodyPr>
          <a:p>
            <a:pPr algn="just"/>
            <a:r>
              <a:rPr lang="en-US">
                <a:solidFill>
                  <a:schemeClr val="bg1"/>
                </a:solidFill>
                <a:latin typeface="Times New Roman Regular" panose="02020603050405020304" charset="0"/>
                <a:cs typeface="Times New Roman Regular" panose="02020603050405020304" charset="0"/>
              </a:rPr>
              <a:t>In the digital age, social media is a powerful tool for environmental advocacy, and artificial intelligence (</a:t>
            </a:r>
            <a:r>
              <a:rPr lang="en-US" b="1">
                <a:solidFill>
                  <a:srgbClr val="FFC000"/>
                </a:solidFill>
                <a:latin typeface="Times New Roman Bold" panose="02020603050405020304" charset="0"/>
                <a:cs typeface="Times New Roman Bold" panose="02020603050405020304" charset="0"/>
              </a:rPr>
              <a:t>AI</a:t>
            </a:r>
            <a:r>
              <a:rPr lang="en-US">
                <a:solidFill>
                  <a:schemeClr val="bg1"/>
                </a:solidFill>
                <a:latin typeface="Times New Roman Regular" panose="02020603050405020304" charset="0"/>
                <a:cs typeface="Times New Roman Regular" panose="02020603050405020304" charset="0"/>
              </a:rPr>
              <a:t>) amplifies its potential. AI allows environmental organizations to analyze conversations, understand public sentiment, and deliver tailored messages to specific audiences. By tracking trends and influencers, AI provides insights that enhance campaign effectiveness. AI-driven content optimization improves visibility, engagement, and message timing, while fostering community collaboration.A key challenge is recognizing and tracking the contributions of individuals and grassroots movements in environmental stewardship. Many volunteers remain unnoticed, limiting their potential to inspire broader action. To address this, we propose </a:t>
            </a:r>
            <a:r>
              <a:rPr lang="en-US" b="1">
                <a:solidFill>
                  <a:srgbClr val="FFC000"/>
                </a:solidFill>
                <a:latin typeface="Times New Roman Bold" panose="02020603050405020304" charset="0"/>
                <a:cs typeface="Times New Roman Bold" panose="02020603050405020304" charset="0"/>
              </a:rPr>
              <a:t>"Prakriti Seva"</a:t>
            </a:r>
            <a:r>
              <a:rPr lang="en-US">
                <a:solidFill>
                  <a:schemeClr val="bg1"/>
                </a:solidFill>
                <a:latin typeface="Times New Roman Regular" panose="02020603050405020304" charset="0"/>
                <a:cs typeface="Times New Roman Regular" panose="02020603050405020304" charset="0"/>
              </a:rPr>
              <a:t> a platform that enables users to document, track, and share their environmental activities. The app features rewards and recognition systems to motivate participation and promote collaboration. Through AI-driven analytics and a structured rewards system, Prakriti Seva aims to connect environmental advocates with the public, fostering a community of environmental consciousness.</a:t>
            </a:r>
            <a:endParaRPr lang="en-US">
              <a:solidFill>
                <a:schemeClr val="bg1"/>
              </a:solidFill>
              <a:latin typeface="Times New Roman Regular" panose="02020603050405020304" charset="0"/>
              <a:cs typeface="Times New Roman Regular" panose="02020603050405020304" charset="0"/>
            </a:endParaRPr>
          </a:p>
        </p:txBody>
      </p:sp>
      <p:pic>
        <p:nvPicPr>
          <p:cNvPr id="6" name="Picture 5" descr="QYk79nLntu9CnvqiPw_hN"/>
          <p:cNvPicPr>
            <a:picLocks noChangeAspect="1"/>
          </p:cNvPicPr>
          <p:nvPr/>
        </p:nvPicPr>
        <p:blipFill>
          <a:blip r:embed="rId1"/>
          <a:stretch>
            <a:fillRect/>
          </a:stretch>
        </p:blipFill>
        <p:spPr>
          <a:xfrm>
            <a:off x="231775" y="236855"/>
            <a:ext cx="4965065" cy="638365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530860" y="261620"/>
            <a:ext cx="633793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INTRODUCTION</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4" name="Text Box 3"/>
          <p:cNvSpPr txBox="1"/>
          <p:nvPr/>
        </p:nvSpPr>
        <p:spPr>
          <a:xfrm>
            <a:off x="530860" y="1223645"/>
            <a:ext cx="6337935" cy="5262245"/>
          </a:xfrm>
          <a:prstGeom prst="rect">
            <a:avLst/>
          </a:prstGeom>
          <a:noFill/>
        </p:spPr>
        <p:txBody>
          <a:bodyPr wrap="square" rtlCol="0" anchor="t">
            <a:spAutoFit/>
          </a:bodyPr>
          <a:p>
            <a:pPr marL="285750" indent="-285750" algn="just">
              <a:buFont typeface="Wingdings" panose="05000000000000000000" charset="0"/>
              <a:buChar char=""/>
            </a:pPr>
            <a:r>
              <a:rPr lang="en-US" sz="1600" b="1">
                <a:gradFill>
                  <a:gsLst>
                    <a:gs pos="50000">
                      <a:srgbClr val="92D050"/>
                    </a:gs>
                    <a:gs pos="0">
                      <a:srgbClr val="00B050"/>
                    </a:gs>
                    <a:gs pos="100000">
                      <a:srgbClr val="FAEF56"/>
                    </a:gs>
                  </a:gsLst>
                  <a:lin ang="0" scaled="0"/>
                </a:gradFill>
                <a:latin typeface="Times New Roman Bold" panose="02020603050405020304" charset="0"/>
                <a:cs typeface="Times New Roman Bold" panose="02020603050405020304" charset="0"/>
              </a:rPr>
              <a:t>Enhanced Environmental Advocacy with AI:</a:t>
            </a:r>
            <a:r>
              <a:rPr lang="en-US" sz="1600">
                <a:gradFill>
                  <a:gsLst>
                    <a:gs pos="50000">
                      <a:srgbClr val="92D050"/>
                    </a:gs>
                    <a:gs pos="0">
                      <a:srgbClr val="00B050"/>
                    </a:gs>
                    <a:gs pos="100000">
                      <a:srgbClr val="FAEF56"/>
                    </a:gs>
                  </a:gsLst>
                  <a:lin ang="0" scaled="0"/>
                </a:gradFill>
                <a:latin typeface="Times New Roman Regular" panose="02020603050405020304" charset="0"/>
                <a:cs typeface="Times New Roman Regular" panose="02020603050405020304" charset="0"/>
              </a:rPr>
              <a:t> </a:t>
            </a:r>
            <a:r>
              <a:rPr lang="en-US" sz="1600">
                <a:solidFill>
                  <a:schemeClr val="bg1"/>
                </a:solidFill>
                <a:latin typeface="Times New Roman Regular" panose="02020603050405020304" charset="0"/>
                <a:cs typeface="Times New Roman Regular" panose="02020603050405020304" charset="0"/>
              </a:rPr>
              <a:t>AI can elevate environmental advocacy on social media by analyzing data to understand public sentiment, identify trends, and tailor messages for maximum impact.</a:t>
            </a: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r>
              <a:rPr lang="en-US" sz="1600" b="1">
                <a:gradFill>
                  <a:gsLst>
                    <a:gs pos="50000">
                      <a:srgbClr val="92D050"/>
                    </a:gs>
                    <a:gs pos="0">
                      <a:srgbClr val="00B050"/>
                    </a:gs>
                    <a:gs pos="100000">
                      <a:srgbClr val="FAEF56"/>
                    </a:gs>
                  </a:gsLst>
                  <a:lin ang="0" scaled="0"/>
                </a:gradFill>
                <a:latin typeface="Times New Roman Bold" panose="02020603050405020304" charset="0"/>
                <a:cs typeface="Times New Roman Bold" panose="02020603050405020304" charset="0"/>
              </a:rPr>
              <a:t>Social Media Monitoring for Insights:</a:t>
            </a:r>
            <a:r>
              <a:rPr lang="en-US" sz="1600" b="1">
                <a:solidFill>
                  <a:schemeClr val="bg1"/>
                </a:solidFill>
                <a:latin typeface="Times New Roman Bold" panose="02020603050405020304" charset="0"/>
                <a:cs typeface="Times New Roman Bold" panose="02020603050405020304" charset="0"/>
              </a:rPr>
              <a:t> </a:t>
            </a:r>
            <a:r>
              <a:rPr lang="en-US" sz="1600">
                <a:solidFill>
                  <a:schemeClr val="bg1"/>
                </a:solidFill>
                <a:latin typeface="Times New Roman Regular" panose="02020603050405020304" charset="0"/>
                <a:cs typeface="Times New Roman Regular" panose="02020603050405020304" charset="0"/>
              </a:rPr>
              <a:t>AI tools track environmental discussions through hashtags, keywords, and interactions, helping organizations identify trends, key influencers, and public concerns for targeted engagement.</a:t>
            </a: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r>
              <a:rPr lang="en-US" sz="1600" b="1">
                <a:gradFill>
                  <a:gsLst>
                    <a:gs pos="50000">
                      <a:srgbClr val="92D050"/>
                    </a:gs>
                    <a:gs pos="0">
                      <a:srgbClr val="00B050"/>
                    </a:gs>
                    <a:gs pos="100000">
                      <a:srgbClr val="FAEF56"/>
                    </a:gs>
                  </a:gsLst>
                  <a:lin ang="0" scaled="0"/>
                </a:gradFill>
                <a:latin typeface="Times New Roman Bold" panose="02020603050405020304" charset="0"/>
                <a:cs typeface="Times New Roman Bold" panose="02020603050405020304" charset="0"/>
              </a:rPr>
              <a:t>Optimized Content Delivery:</a:t>
            </a:r>
            <a:r>
              <a:rPr lang="en-US" sz="1600" b="1">
                <a:solidFill>
                  <a:schemeClr val="bg1"/>
                </a:solidFill>
                <a:latin typeface="Times New Roman Bold" panose="02020603050405020304" charset="0"/>
                <a:cs typeface="Times New Roman Bold" panose="02020603050405020304" charset="0"/>
              </a:rPr>
              <a:t> </a:t>
            </a:r>
            <a:r>
              <a:rPr lang="en-US" sz="1600">
                <a:solidFill>
                  <a:schemeClr val="bg1"/>
                </a:solidFill>
                <a:latin typeface="Times New Roman Regular" panose="02020603050405020304" charset="0"/>
                <a:cs typeface="Times New Roman Regular" panose="02020603050405020304" charset="0"/>
              </a:rPr>
              <a:t>Predictive analytics in AI can determine the best times to post, improving visibility, while personalized messaging boosts audience engagement.</a:t>
            </a: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r>
              <a:rPr lang="en-US" sz="1600" b="1">
                <a:gradFill>
                  <a:gsLst>
                    <a:gs pos="50000">
                      <a:srgbClr val="92D050"/>
                    </a:gs>
                    <a:gs pos="0">
                      <a:srgbClr val="00B050"/>
                    </a:gs>
                    <a:gs pos="100000">
                      <a:srgbClr val="FAEF56"/>
                    </a:gs>
                  </a:gsLst>
                  <a:lin ang="0" scaled="0"/>
                </a:gradFill>
                <a:latin typeface="Times New Roman Bold" panose="02020603050405020304" charset="0"/>
                <a:cs typeface="Times New Roman Bold" panose="02020603050405020304" charset="0"/>
              </a:rPr>
              <a:t>Community Building and Collaboration:</a:t>
            </a:r>
            <a:r>
              <a:rPr lang="en-US" sz="1600">
                <a:solidFill>
                  <a:schemeClr val="bg1"/>
                </a:solidFill>
                <a:latin typeface="Times New Roman Regular" panose="02020603050405020304" charset="0"/>
                <a:cs typeface="Times New Roman Regular" panose="02020603050405020304" charset="0"/>
              </a:rPr>
              <a:t> AI-powered platforms foster community by connecting like-minded individuals, encouraging local involvement, and promoting resource sharing.</a:t>
            </a: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endParaRPr lang="en-US" sz="1600">
              <a:solidFill>
                <a:schemeClr val="bg1"/>
              </a:solidFill>
              <a:latin typeface="Times New Roman Regular" panose="02020603050405020304" charset="0"/>
              <a:cs typeface="Times New Roman Regular" panose="02020603050405020304" charset="0"/>
            </a:endParaRPr>
          </a:p>
          <a:p>
            <a:pPr marL="285750" indent="-285750" algn="just">
              <a:buFont typeface="Wingdings" panose="05000000000000000000" charset="0"/>
              <a:buChar char=""/>
            </a:pPr>
            <a:r>
              <a:rPr lang="en-US" sz="1600" b="1">
                <a:gradFill>
                  <a:gsLst>
                    <a:gs pos="50000">
                      <a:srgbClr val="92D050"/>
                    </a:gs>
                    <a:gs pos="0">
                      <a:srgbClr val="00B050"/>
                    </a:gs>
                    <a:gs pos="100000">
                      <a:srgbClr val="FAEF56"/>
                    </a:gs>
                  </a:gsLst>
                  <a:lin ang="0" scaled="0"/>
                </a:gradFill>
                <a:latin typeface="Times New Roman Bold" panose="02020603050405020304" charset="0"/>
                <a:cs typeface="Times New Roman Bold" panose="02020603050405020304" charset="0"/>
              </a:rPr>
              <a:t>Collective Action for Change:</a:t>
            </a:r>
            <a:r>
              <a:rPr lang="en-US" sz="1600" b="1">
                <a:solidFill>
                  <a:schemeClr val="bg1"/>
                </a:solidFill>
                <a:latin typeface="Times New Roman Bold" panose="02020603050405020304" charset="0"/>
                <a:cs typeface="Times New Roman Bold" panose="02020603050405020304" charset="0"/>
              </a:rPr>
              <a:t> </a:t>
            </a:r>
            <a:r>
              <a:rPr lang="en-US" sz="1600">
                <a:solidFill>
                  <a:schemeClr val="bg1"/>
                </a:solidFill>
                <a:latin typeface="Times New Roman Regular" panose="02020603050405020304" charset="0"/>
                <a:cs typeface="Times New Roman Regular" panose="02020603050405020304" charset="0"/>
              </a:rPr>
              <a:t>AI helps amplify individual efforts, demonstrating the power of collective action in driving substantial environmental impact for a sustainable future.</a:t>
            </a:r>
            <a:endParaRPr lang="en-US" sz="1600">
              <a:solidFill>
                <a:schemeClr val="bg1"/>
              </a:solidFill>
              <a:latin typeface="Times New Roman Regular" panose="02020603050405020304" charset="0"/>
              <a:cs typeface="Times New Roman Regular" panose="02020603050405020304" charset="0"/>
            </a:endParaRPr>
          </a:p>
        </p:txBody>
      </p:sp>
      <p:pic>
        <p:nvPicPr>
          <p:cNvPr id="5" name="Picture 4" descr="j2z5xwKBwaNHTZ8HSNp0H"/>
          <p:cNvPicPr>
            <a:picLocks noChangeAspect="1"/>
          </p:cNvPicPr>
          <p:nvPr/>
        </p:nvPicPr>
        <p:blipFill>
          <a:blip r:embed="rId1"/>
          <a:stretch>
            <a:fillRect/>
          </a:stretch>
        </p:blipFill>
        <p:spPr>
          <a:xfrm>
            <a:off x="7071995" y="262255"/>
            <a:ext cx="4827270" cy="621855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4226560" y="314960"/>
            <a:ext cx="7607300" cy="706755"/>
          </a:xfrm>
          <a:prstGeom prst="rect">
            <a:avLst/>
          </a:prstGeom>
          <a:noFill/>
        </p:spPr>
        <p:txBody>
          <a:bodyPr wrap="square" rtlCol="0" anchor="t">
            <a:spAutoFit/>
          </a:bodyPr>
          <a:p>
            <a:pPr algn="r"/>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PROBLEM STATEMENTS</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Rectangles 2"/>
          <p:cNvSpPr/>
          <p:nvPr/>
        </p:nvSpPr>
        <p:spPr>
          <a:xfrm>
            <a:off x="4972685" y="1287145"/>
            <a:ext cx="3429635" cy="2842260"/>
          </a:xfrm>
          <a:prstGeom prst="rect">
            <a:avLst/>
          </a:prstGeom>
          <a:solidFill>
            <a:srgbClr val="21415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en-US">
              <a:solidFill>
                <a:schemeClr val="bg1"/>
              </a:solidFill>
              <a:latin typeface="Arial Black" panose="020B0A04020102020204" charset="0"/>
              <a:cs typeface="Arial Black" panose="020B0A04020102020204" charset="0"/>
            </a:endParaRPr>
          </a:p>
        </p:txBody>
      </p:sp>
      <p:sp>
        <p:nvSpPr>
          <p:cNvPr id="5" name="Rectangles 4"/>
          <p:cNvSpPr/>
          <p:nvPr/>
        </p:nvSpPr>
        <p:spPr>
          <a:xfrm>
            <a:off x="8570595" y="1287145"/>
            <a:ext cx="3429635" cy="2842260"/>
          </a:xfrm>
          <a:prstGeom prst="rect">
            <a:avLst/>
          </a:prstGeom>
          <a:solidFill>
            <a:srgbClr val="21415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Rectangles 5"/>
          <p:cNvSpPr/>
          <p:nvPr/>
        </p:nvSpPr>
        <p:spPr>
          <a:xfrm>
            <a:off x="4972685" y="4269740"/>
            <a:ext cx="7027545" cy="2268855"/>
          </a:xfrm>
          <a:prstGeom prst="rect">
            <a:avLst/>
          </a:prstGeom>
          <a:solidFill>
            <a:srgbClr val="21415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7" name="Text Box 6"/>
          <p:cNvSpPr txBox="1"/>
          <p:nvPr/>
        </p:nvSpPr>
        <p:spPr>
          <a:xfrm>
            <a:off x="4973320" y="1410335"/>
            <a:ext cx="3430270" cy="583565"/>
          </a:xfrm>
          <a:prstGeom prst="rect">
            <a:avLst/>
          </a:prstGeom>
          <a:noFill/>
        </p:spPr>
        <p:txBody>
          <a:bodyPr wrap="square" rtlCol="0" anchor="t">
            <a:spAutoFit/>
          </a:bodyPr>
          <a:p>
            <a:pPr indent="0" algn="ctr">
              <a:buFont typeface="+mj-lt"/>
              <a:buNone/>
            </a:pPr>
            <a:r>
              <a:rPr lang="en-US" sz="1600" b="1">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Unrecognized Contributions and Lack of Motivation</a:t>
            </a:r>
            <a:endParaRPr lang="en-US" sz="1600" b="1">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8" name="Text Box 7"/>
          <p:cNvSpPr txBox="1"/>
          <p:nvPr/>
        </p:nvSpPr>
        <p:spPr>
          <a:xfrm>
            <a:off x="8570595" y="1287145"/>
            <a:ext cx="3429635" cy="829945"/>
          </a:xfrm>
          <a:prstGeom prst="rect">
            <a:avLst/>
          </a:prstGeom>
          <a:noFill/>
        </p:spPr>
        <p:txBody>
          <a:bodyPr wrap="square" rtlCol="0" anchor="t">
            <a:spAutoFit/>
          </a:bodyPr>
          <a:p>
            <a:pPr algn="ctr"/>
            <a:r>
              <a:rPr lang="en-US" sz="16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Absence of a Structured System for Monitoring and Collaboration</a:t>
            </a:r>
            <a:endParaRPr lang="en-US" sz="16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9" name="Text Box 8"/>
          <p:cNvSpPr txBox="1"/>
          <p:nvPr/>
        </p:nvSpPr>
        <p:spPr>
          <a:xfrm>
            <a:off x="4973320" y="4320540"/>
            <a:ext cx="7028180" cy="645160"/>
          </a:xfrm>
          <a:prstGeom prst="rect">
            <a:avLst/>
          </a:prstGeom>
          <a:noFill/>
        </p:spPr>
        <p:txBody>
          <a:bodyPr wrap="square" rtlCol="0" anchor="t">
            <a:spAutoFit/>
          </a:bodyPr>
          <a:p>
            <a:pPr algn="ctr"/>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Need for Recognition, Rewards, and Community Support</a:t>
            </a:r>
            <a:endPar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10" name="Text Box 9"/>
          <p:cNvSpPr txBox="1"/>
          <p:nvPr/>
        </p:nvSpPr>
        <p:spPr>
          <a:xfrm>
            <a:off x="4973320" y="2117090"/>
            <a:ext cx="3429635" cy="1814830"/>
          </a:xfrm>
          <a:prstGeom prst="rect">
            <a:avLst/>
          </a:prstGeom>
          <a:noFill/>
        </p:spPr>
        <p:txBody>
          <a:bodyPr wrap="square" rtlCol="0" anchor="t">
            <a:spAutoFit/>
          </a:bodyPr>
          <a:p>
            <a:pPr algn="just"/>
            <a:r>
              <a:rPr lang="en-US" sz="1600">
                <a:solidFill>
                  <a:schemeClr val="bg1"/>
                </a:solidFill>
                <a:latin typeface="Times New Roman" panose="02020603050405020304" charset="0"/>
                <a:cs typeface="Times New Roman" panose="02020603050405020304" charset="0"/>
              </a:rPr>
              <a:t>Many individuals and groups engaged in environmental activities like tree planting and clean-up drives remain unnoticed. This lack of recognition reduces motivation and limits their ability to inspire broader participation and support.</a:t>
            </a:r>
            <a:endParaRPr lang="en-US" sz="1600">
              <a:solidFill>
                <a:schemeClr val="bg1"/>
              </a:solidFill>
              <a:latin typeface="Times New Roman" panose="02020603050405020304" charset="0"/>
              <a:cs typeface="Times New Roman" panose="02020603050405020304" charset="0"/>
            </a:endParaRPr>
          </a:p>
        </p:txBody>
      </p:sp>
      <p:sp>
        <p:nvSpPr>
          <p:cNvPr id="11" name="Text Box 10"/>
          <p:cNvSpPr txBox="1"/>
          <p:nvPr/>
        </p:nvSpPr>
        <p:spPr>
          <a:xfrm>
            <a:off x="8570595" y="2068195"/>
            <a:ext cx="3430270" cy="2061210"/>
          </a:xfrm>
          <a:prstGeom prst="rect">
            <a:avLst/>
          </a:prstGeom>
          <a:noFill/>
        </p:spPr>
        <p:txBody>
          <a:bodyPr wrap="square" rtlCol="0" anchor="t">
            <a:spAutoFit/>
          </a:bodyPr>
          <a:p>
            <a:pPr algn="just"/>
            <a:r>
              <a:rPr lang="en-US" sz="1600">
                <a:solidFill>
                  <a:schemeClr val="bg1"/>
                </a:solidFill>
                <a:latin typeface="Times New Roman Regular" panose="02020603050405020304" charset="0"/>
                <a:cs typeface="Times New Roman Regular" panose="02020603050405020304" charset="0"/>
              </a:rPr>
              <a:t>Without a system to track and showcase environmental efforts, the collective impact of grassroots movements remains hidden. This fragmentation hampers collaboration, as valuable knowledge and experiences stay isolated, preventing more effective strategies and community-driven action.</a:t>
            </a:r>
            <a:endParaRPr lang="en-US" sz="1600">
              <a:solidFill>
                <a:schemeClr val="bg1"/>
              </a:solidFill>
              <a:latin typeface="Times New Roman Regular" panose="02020603050405020304" charset="0"/>
              <a:cs typeface="Times New Roman Regular" panose="02020603050405020304" charset="0"/>
            </a:endParaRPr>
          </a:p>
        </p:txBody>
      </p:sp>
      <p:sp>
        <p:nvSpPr>
          <p:cNvPr id="12" name="Text Box 11"/>
          <p:cNvSpPr txBox="1"/>
          <p:nvPr/>
        </p:nvSpPr>
        <p:spPr>
          <a:xfrm>
            <a:off x="5081270" y="5027295"/>
            <a:ext cx="6811010" cy="1322070"/>
          </a:xfrm>
          <a:prstGeom prst="rect">
            <a:avLst/>
          </a:prstGeom>
          <a:noFill/>
        </p:spPr>
        <p:txBody>
          <a:bodyPr wrap="square" rtlCol="0" anchor="t">
            <a:spAutoFit/>
          </a:bodyPr>
          <a:p>
            <a:pPr algn="just"/>
            <a:r>
              <a:rPr lang="en-US" sz="1600">
                <a:solidFill>
                  <a:schemeClr val="bg1"/>
                </a:solidFill>
                <a:latin typeface="Times New Roman Regular" panose="02020603050405020304" charset="0"/>
                <a:cs typeface="Times New Roman Regular" panose="02020603050405020304" charset="0"/>
              </a:rPr>
              <a:t>Environmental advocates often lack acknowledgment and financial incentives, which leads to reduced participation and stifles the sustainability of initiatives. A tracking and recognition system is crucial to motivate continued involvement, foster collaboration, and secure resources needed for impactful environmental change.</a:t>
            </a:r>
            <a:endParaRPr lang="en-US" sz="1600">
              <a:solidFill>
                <a:schemeClr val="bg1"/>
              </a:solidFill>
              <a:latin typeface="Times New Roman Regular" panose="02020603050405020304" charset="0"/>
              <a:cs typeface="Times New Roman Regular" panose="02020603050405020304" charset="0"/>
            </a:endParaRPr>
          </a:p>
        </p:txBody>
      </p:sp>
      <p:pic>
        <p:nvPicPr>
          <p:cNvPr id="16" name="Picture 15" descr="community-tree-gathering-stockcake"/>
          <p:cNvPicPr>
            <a:picLocks noChangeAspect="1"/>
          </p:cNvPicPr>
          <p:nvPr/>
        </p:nvPicPr>
        <p:blipFill>
          <a:blip r:embed="rId1"/>
          <a:srcRect t="3898" b="12454"/>
          <a:stretch>
            <a:fillRect/>
          </a:stretch>
        </p:blipFill>
        <p:spPr>
          <a:xfrm flipH="1">
            <a:off x="485775" y="401955"/>
            <a:ext cx="4110990" cy="6136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300355" y="150495"/>
            <a:ext cx="867219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PROPOSED SOLUTION</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300355" y="768350"/>
            <a:ext cx="8370570" cy="5754370"/>
          </a:xfrm>
          <a:prstGeom prst="rect">
            <a:avLst/>
          </a:prstGeom>
          <a:noFill/>
        </p:spPr>
        <p:txBody>
          <a:bodyPr wrap="square" rtlCol="0" anchor="t">
            <a:spAutoFit/>
          </a:bodyPr>
          <a:p>
            <a:pPr marL="285750" indent="-285750" algn="just">
              <a:buFont typeface="Wingdings" panose="05000000000000000000" charset="0"/>
              <a:buChar char=""/>
            </a:pPr>
            <a:r>
              <a:rPr lang="en-US" sz="1600" b="1">
                <a:solidFill>
                  <a:srgbClr val="92D050"/>
                </a:solidFill>
                <a:latin typeface="Times New Roman Regular" panose="02020603050405020304" charset="0"/>
                <a:cs typeface="Times New Roman Regular" panose="02020603050405020304" charset="0"/>
              </a:rPr>
              <a:t> </a:t>
            </a:r>
            <a:r>
              <a:rPr lang="en-US" sz="1600" b="1">
                <a:solidFill>
                  <a:srgbClr val="92D050"/>
                </a:solidFill>
              </a:rPr>
              <a:t>Prakriti Seva</a:t>
            </a:r>
            <a:r>
              <a:rPr lang="en-US" sz="1600">
                <a:solidFill>
                  <a:schemeClr val="bg1"/>
                </a:solidFill>
              </a:rPr>
              <a:t> is a social media app for environmental advocacy, where users share and track eco-friendly activities like tree planting and conservation. It connects like-minded individuals, promotes awareness, and inspires collective action through photo and progress updates.</a:t>
            </a:r>
            <a:endParaRPr lang="en-US" sz="1600">
              <a:solidFill>
                <a:schemeClr val="bg1"/>
              </a:solidFill>
            </a:endParaRPr>
          </a:p>
          <a:p>
            <a:pPr indent="0" algn="just">
              <a:buFont typeface="Wingdings" panose="05000000000000000000" charset="0"/>
              <a:buNone/>
            </a:pPr>
            <a:endParaRPr lang="en-US" sz="1600">
              <a:solidFill>
                <a:schemeClr val="bg1"/>
              </a:solidFill>
            </a:endParaRPr>
          </a:p>
          <a:p>
            <a:pPr marL="285750" indent="-285750" algn="just">
              <a:buFont typeface="Wingdings" panose="05000000000000000000" charset="0"/>
              <a:buChar char=""/>
            </a:pPr>
            <a:r>
              <a:rPr lang="en-US" sz="1600" b="1">
                <a:solidFill>
                  <a:srgbClr val="92D050"/>
                </a:solidFill>
              </a:rPr>
              <a:t>Impact Tracking using AI: </a:t>
            </a:r>
            <a:r>
              <a:rPr lang="en-US" sz="1600">
                <a:solidFill>
                  <a:schemeClr val="bg1"/>
                </a:solidFill>
              </a:rPr>
              <a:t>The app leverages the </a:t>
            </a:r>
            <a:r>
              <a:rPr lang="en-US" sz="1600" b="1">
                <a:solidFill>
                  <a:schemeClr val="accent4">
                    <a:lumMod val="60000"/>
                    <a:lumOff val="40000"/>
                  </a:schemeClr>
                </a:solidFill>
              </a:rPr>
              <a:t>Google Gemini API</a:t>
            </a:r>
            <a:r>
              <a:rPr lang="en-US" sz="1600">
                <a:solidFill>
                  <a:schemeClr val="bg1"/>
                </a:solidFill>
              </a:rPr>
              <a:t> to analyze user-uploaded posts and assess their environmental or social impact. Using AI, the system tracks contributions—such as tree planting or sustainability efforts—by evaluating the content of each post. Based on the detected impact, users receive rewards and progress updates, keeping them continuously engaged and motivated with tangible recognition for their efforts.</a:t>
            </a:r>
            <a:endParaRPr lang="en-US" sz="1600">
              <a:solidFill>
                <a:schemeClr val="bg1"/>
              </a:solidFill>
            </a:endParaRPr>
          </a:p>
          <a:p>
            <a:pPr indent="0" algn="just">
              <a:buFont typeface="Wingdings" panose="05000000000000000000" charset="0"/>
              <a:buNone/>
            </a:pPr>
            <a:endParaRPr lang="en-US" sz="1600">
              <a:solidFill>
                <a:schemeClr val="bg1"/>
              </a:solidFill>
            </a:endParaRPr>
          </a:p>
          <a:p>
            <a:pPr marL="285750" indent="-285750" algn="just">
              <a:buFont typeface="Wingdings" panose="05000000000000000000" charset="0"/>
              <a:buChar char=""/>
            </a:pPr>
            <a:r>
              <a:rPr lang="en-US" sz="1600" b="1">
                <a:solidFill>
                  <a:srgbClr val="92D050"/>
                </a:solidFill>
              </a:rPr>
              <a:t>Rewards System:</a:t>
            </a:r>
            <a:r>
              <a:rPr lang="en-US" sz="1600">
                <a:solidFill>
                  <a:schemeClr val="bg1"/>
                </a:solidFill>
              </a:rPr>
              <a:t> </a:t>
            </a:r>
            <a:r>
              <a:rPr lang="en-US" sz="1600">
                <a:solidFill>
                  <a:schemeClr val="bg1"/>
                </a:solidFill>
              </a:rPr>
              <a:t>Prakriti Seva introduces a rewards system to incentivize participation. Users earn points for logging activities, which can be redeemed for eco-friendly products, discounts, or funding for future initiatives. This system motivates users and encourages others to take action.</a:t>
            </a:r>
            <a:endParaRPr lang="en-US" sz="1600">
              <a:solidFill>
                <a:schemeClr val="bg1"/>
              </a:solidFill>
            </a:endParaRPr>
          </a:p>
          <a:p>
            <a:pPr marL="285750" indent="-285750" algn="just">
              <a:buFont typeface="Wingdings" panose="05000000000000000000" charset="0"/>
              <a:buChar char=""/>
            </a:pPr>
            <a:endParaRPr lang="en-US" sz="1600">
              <a:solidFill>
                <a:schemeClr val="bg1"/>
              </a:solidFill>
            </a:endParaRPr>
          </a:p>
          <a:p>
            <a:pPr marL="285750" indent="-285750" algn="just">
              <a:buFont typeface="Wingdings" panose="05000000000000000000" charset="0"/>
              <a:buChar char=""/>
            </a:pPr>
            <a:r>
              <a:rPr lang="en-US" sz="1600" b="1">
                <a:solidFill>
                  <a:srgbClr val="92D050"/>
                </a:solidFill>
              </a:rPr>
              <a:t>Community Building:</a:t>
            </a:r>
            <a:r>
              <a:rPr lang="en-US" sz="1600">
                <a:solidFill>
                  <a:schemeClr val="bg1"/>
                </a:solidFill>
              </a:rPr>
              <a:t> The app helps foster a strong sense of community by connecting individuals who are passionate about the environment. Through collaboration and shared success stories, users can amplify their collective impact.</a:t>
            </a:r>
            <a:endParaRPr lang="en-US" sz="1600">
              <a:solidFill>
                <a:schemeClr val="bg1"/>
              </a:solidFill>
            </a:endParaRPr>
          </a:p>
          <a:p>
            <a:pPr marL="285750" indent="-285750" algn="just">
              <a:buFont typeface="Wingdings" panose="05000000000000000000" charset="0"/>
              <a:buChar char=""/>
            </a:pPr>
            <a:endParaRPr lang="en-US" sz="1600">
              <a:solidFill>
                <a:schemeClr val="bg1"/>
              </a:solidFill>
            </a:endParaRPr>
          </a:p>
          <a:p>
            <a:pPr marL="285750" indent="-285750" algn="just">
              <a:buFont typeface="Wingdings" panose="05000000000000000000" charset="0"/>
              <a:buChar char=""/>
            </a:pPr>
            <a:r>
              <a:rPr lang="en-US" sz="1600" b="1">
                <a:solidFill>
                  <a:srgbClr val="92D050"/>
                </a:solidFill>
              </a:rPr>
              <a:t>Inspiring Sustainability:</a:t>
            </a:r>
            <a:r>
              <a:rPr lang="en-US" sz="1600">
                <a:solidFill>
                  <a:schemeClr val="bg1"/>
                </a:solidFill>
              </a:rPr>
              <a:t> Prakriti Seva encourages individual action, inspiring a global movement toward sustainability while promoting environmental stewardship.</a:t>
            </a:r>
            <a:endParaRPr lang="en-US" sz="1600">
              <a:solidFill>
                <a:schemeClr val="bg1"/>
              </a:solidFill>
            </a:endParaRPr>
          </a:p>
        </p:txBody>
      </p:sp>
      <p:pic>
        <p:nvPicPr>
          <p:cNvPr id="4" name="Picture 3" descr="WhatsApp Image 2024-11-07 at 22.20.21"/>
          <p:cNvPicPr>
            <a:picLocks noChangeAspect="1"/>
          </p:cNvPicPr>
          <p:nvPr/>
        </p:nvPicPr>
        <p:blipFill>
          <a:blip r:embed="rId1"/>
          <a:srcRect b="13750"/>
          <a:stretch>
            <a:fillRect/>
          </a:stretch>
        </p:blipFill>
        <p:spPr>
          <a:xfrm>
            <a:off x="8861425" y="535940"/>
            <a:ext cx="3072765" cy="59150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4" name="Text Box 3"/>
          <p:cNvSpPr txBox="1"/>
          <p:nvPr/>
        </p:nvSpPr>
        <p:spPr>
          <a:xfrm>
            <a:off x="166370" y="205740"/>
            <a:ext cx="6837680"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EXPERIMENTAL SETUP</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pic>
        <p:nvPicPr>
          <p:cNvPr id="6" name="Picture 5" descr="server"/>
          <p:cNvPicPr>
            <a:picLocks noChangeAspect="1"/>
          </p:cNvPicPr>
          <p:nvPr/>
        </p:nvPicPr>
        <p:blipFill>
          <a:blip r:embed="rId1"/>
          <a:stretch>
            <a:fillRect/>
          </a:stretch>
        </p:blipFill>
        <p:spPr>
          <a:xfrm>
            <a:off x="1353820" y="4272280"/>
            <a:ext cx="1078230" cy="1078230"/>
          </a:xfrm>
          <a:prstGeom prst="rect">
            <a:avLst/>
          </a:prstGeom>
        </p:spPr>
      </p:pic>
      <p:pic>
        <p:nvPicPr>
          <p:cNvPr id="7" name="Picture 6" descr="rendering"/>
          <p:cNvPicPr>
            <a:picLocks noChangeAspect="1"/>
          </p:cNvPicPr>
          <p:nvPr/>
        </p:nvPicPr>
        <p:blipFill>
          <a:blip r:embed="rId2"/>
          <a:stretch>
            <a:fillRect/>
          </a:stretch>
        </p:blipFill>
        <p:spPr>
          <a:xfrm>
            <a:off x="9866630" y="4319905"/>
            <a:ext cx="982980" cy="982980"/>
          </a:xfrm>
          <a:prstGeom prst="rect">
            <a:avLst/>
          </a:prstGeom>
        </p:spPr>
      </p:pic>
      <p:pic>
        <p:nvPicPr>
          <p:cNvPr id="8" name="Picture 7" descr="green-chili-pepper (1)"/>
          <p:cNvPicPr>
            <a:picLocks noChangeAspect="1"/>
          </p:cNvPicPr>
          <p:nvPr/>
        </p:nvPicPr>
        <p:blipFill>
          <a:blip r:embed="rId3"/>
          <a:stretch>
            <a:fillRect/>
          </a:stretch>
        </p:blipFill>
        <p:spPr>
          <a:xfrm>
            <a:off x="9672955" y="1461770"/>
            <a:ext cx="983615" cy="983615"/>
          </a:xfrm>
          <a:prstGeom prst="rect">
            <a:avLst/>
          </a:prstGeom>
        </p:spPr>
      </p:pic>
      <p:pic>
        <p:nvPicPr>
          <p:cNvPr id="10" name="Picture 9" descr="flutter"/>
          <p:cNvPicPr>
            <a:picLocks noChangeAspect="1"/>
          </p:cNvPicPr>
          <p:nvPr/>
        </p:nvPicPr>
        <p:blipFill>
          <a:blip r:embed="rId4"/>
          <a:stretch>
            <a:fillRect/>
          </a:stretch>
        </p:blipFill>
        <p:spPr>
          <a:xfrm>
            <a:off x="5143500" y="1461770"/>
            <a:ext cx="1278255" cy="982980"/>
          </a:xfrm>
          <a:prstGeom prst="rect">
            <a:avLst/>
          </a:prstGeom>
        </p:spPr>
      </p:pic>
      <p:pic>
        <p:nvPicPr>
          <p:cNvPr id="11" name="Picture 10" descr="figma"/>
          <p:cNvPicPr>
            <a:picLocks noChangeAspect="1"/>
          </p:cNvPicPr>
          <p:nvPr/>
        </p:nvPicPr>
        <p:blipFill>
          <a:blip r:embed="rId5"/>
          <a:stretch>
            <a:fillRect/>
          </a:stretch>
        </p:blipFill>
        <p:spPr>
          <a:xfrm>
            <a:off x="1226185" y="1610360"/>
            <a:ext cx="1077595" cy="829945"/>
          </a:xfrm>
          <a:prstGeom prst="rect">
            <a:avLst/>
          </a:prstGeom>
        </p:spPr>
      </p:pic>
      <p:sp>
        <p:nvSpPr>
          <p:cNvPr id="13" name="Text Box 12"/>
          <p:cNvSpPr txBox="1"/>
          <p:nvPr/>
        </p:nvSpPr>
        <p:spPr>
          <a:xfrm>
            <a:off x="273050" y="2444750"/>
            <a:ext cx="2983230" cy="1076325"/>
          </a:xfrm>
          <a:prstGeom prst="rect">
            <a:avLst/>
          </a:prstGeom>
          <a:noFill/>
        </p:spPr>
        <p:txBody>
          <a:bodyPr wrap="square" rtlCol="0" anchor="t">
            <a:spAutoFit/>
          </a:bodyPr>
          <a:p>
            <a:pPr algn="ctr"/>
            <a:r>
              <a:rPr lang="en-US" sz="1600">
                <a:solidFill>
                  <a:srgbClr val="FFC000"/>
                </a:solidFill>
                <a:latin typeface="Times New Roman Regular" panose="02020603050405020304" charset="0"/>
                <a:cs typeface="Times New Roman Regular" panose="02020603050405020304" charset="0"/>
              </a:rPr>
              <a:t>Figma: </a:t>
            </a:r>
            <a:r>
              <a:rPr lang="en-US" sz="1600">
                <a:solidFill>
                  <a:schemeClr val="bg1"/>
                </a:solidFill>
                <a:latin typeface="Times New Roman Regular" panose="02020603050405020304" charset="0"/>
                <a:cs typeface="Times New Roman Regular" panose="02020603050405020304" charset="0"/>
              </a:rPr>
              <a:t>Cloud-based design tool for real-time collaboration on UI/UX with responsive design and interactive mockups.</a:t>
            </a:r>
            <a:endParaRPr lang="en-US" sz="1600">
              <a:solidFill>
                <a:schemeClr val="bg1"/>
              </a:solidFill>
              <a:latin typeface="Times New Roman Regular" panose="02020603050405020304" charset="0"/>
              <a:cs typeface="Times New Roman Regular" panose="02020603050405020304" charset="0"/>
            </a:endParaRPr>
          </a:p>
        </p:txBody>
      </p:sp>
      <p:sp>
        <p:nvSpPr>
          <p:cNvPr id="14" name="Text Box 13"/>
          <p:cNvSpPr txBox="1"/>
          <p:nvPr/>
        </p:nvSpPr>
        <p:spPr>
          <a:xfrm>
            <a:off x="3916045" y="2444750"/>
            <a:ext cx="4042410" cy="1076325"/>
          </a:xfrm>
          <a:prstGeom prst="rect">
            <a:avLst/>
          </a:prstGeom>
          <a:noFill/>
        </p:spPr>
        <p:txBody>
          <a:bodyPr wrap="square" rtlCol="0" anchor="t">
            <a:spAutoFit/>
          </a:bodyPr>
          <a:p>
            <a:pPr algn="ctr"/>
            <a:r>
              <a:rPr lang="en-US" sz="1600">
                <a:solidFill>
                  <a:srgbClr val="FFC000"/>
                </a:solidFill>
                <a:latin typeface="Times New Roman Regular" panose="02020603050405020304" charset="0"/>
                <a:cs typeface="Times New Roman Regular" panose="02020603050405020304" charset="0"/>
              </a:rPr>
              <a:t>Flutter: </a:t>
            </a:r>
            <a:r>
              <a:rPr lang="en-US" sz="1600">
                <a:solidFill>
                  <a:schemeClr val="bg1"/>
                </a:solidFill>
                <a:latin typeface="Times New Roman Regular" panose="02020603050405020304" charset="0"/>
                <a:cs typeface="Times New Roman Regular" panose="02020603050405020304" charset="0"/>
              </a:rPr>
              <a:t>Open-source framework by Google for building mobile, web, and desktop apps from a single codebase, using Dart for high-performance, native-like experiences.</a:t>
            </a:r>
            <a:endParaRPr lang="en-US" sz="1600">
              <a:solidFill>
                <a:schemeClr val="bg1"/>
              </a:solidFill>
              <a:latin typeface="Times New Roman Regular" panose="02020603050405020304" charset="0"/>
              <a:cs typeface="Times New Roman Regular" panose="02020603050405020304" charset="0"/>
            </a:endParaRPr>
          </a:p>
        </p:txBody>
      </p:sp>
      <p:sp>
        <p:nvSpPr>
          <p:cNvPr id="15" name="Text Box 14"/>
          <p:cNvSpPr txBox="1"/>
          <p:nvPr/>
        </p:nvSpPr>
        <p:spPr>
          <a:xfrm>
            <a:off x="8552815" y="2444750"/>
            <a:ext cx="3453130" cy="829945"/>
          </a:xfrm>
          <a:prstGeom prst="rect">
            <a:avLst/>
          </a:prstGeom>
          <a:noFill/>
        </p:spPr>
        <p:txBody>
          <a:bodyPr wrap="square" rtlCol="0" anchor="t">
            <a:spAutoFit/>
          </a:bodyPr>
          <a:p>
            <a:pPr algn="ctr"/>
            <a:r>
              <a:rPr lang="en-US" sz="1600">
                <a:solidFill>
                  <a:srgbClr val="FFC000"/>
                </a:solidFill>
                <a:latin typeface="Times New Roman Regular" panose="02020603050405020304" charset="0"/>
                <a:cs typeface="Times New Roman Regular" panose="02020603050405020304" charset="0"/>
              </a:rPr>
              <a:t>Flask: </a:t>
            </a:r>
            <a:r>
              <a:rPr lang="en-US" sz="1600">
                <a:solidFill>
                  <a:schemeClr val="bg1"/>
                </a:solidFill>
                <a:latin typeface="Times New Roman Regular" panose="02020603050405020304" charset="0"/>
                <a:cs typeface="Times New Roman Regular" panose="02020603050405020304" charset="0"/>
              </a:rPr>
              <a:t>Lightweight Python framework for fast web app development with minimal code.</a:t>
            </a:r>
            <a:endParaRPr lang="en-US" sz="1600">
              <a:solidFill>
                <a:schemeClr val="bg1"/>
              </a:solidFill>
              <a:latin typeface="Times New Roman Regular" panose="02020603050405020304" charset="0"/>
              <a:cs typeface="Times New Roman Regular" panose="02020603050405020304" charset="0"/>
            </a:endParaRPr>
          </a:p>
        </p:txBody>
      </p:sp>
      <p:sp>
        <p:nvSpPr>
          <p:cNvPr id="16" name="Text Box 15"/>
          <p:cNvSpPr txBox="1"/>
          <p:nvPr/>
        </p:nvSpPr>
        <p:spPr>
          <a:xfrm>
            <a:off x="407035" y="5350510"/>
            <a:ext cx="3224530" cy="1076325"/>
          </a:xfrm>
          <a:prstGeom prst="rect">
            <a:avLst/>
          </a:prstGeom>
          <a:noFill/>
        </p:spPr>
        <p:txBody>
          <a:bodyPr wrap="square" rtlCol="0" anchor="t">
            <a:spAutoFit/>
          </a:bodyPr>
          <a:p>
            <a:pPr algn="ctr"/>
            <a:r>
              <a:rPr lang="en-US" sz="1600">
                <a:solidFill>
                  <a:srgbClr val="FFC000"/>
                </a:solidFill>
                <a:latin typeface="Times New Roman Regular" panose="02020603050405020304" charset="0"/>
                <a:cs typeface="Times New Roman Regular" panose="02020603050405020304" charset="0"/>
              </a:rPr>
              <a:t>MongoDB:</a:t>
            </a:r>
            <a:r>
              <a:rPr lang="en-US" sz="1600">
                <a:solidFill>
                  <a:schemeClr val="bg1"/>
                </a:solidFill>
                <a:latin typeface="Times New Roman Regular" panose="02020603050405020304" charset="0"/>
                <a:cs typeface="Times New Roman Regular" panose="02020603050405020304" charset="0"/>
              </a:rPr>
              <a:t> NoSQL database storing data in BSON format, ideal for scalable, real-time applications with flexible, schema-less design.</a:t>
            </a:r>
            <a:endParaRPr lang="en-US" sz="1600">
              <a:solidFill>
                <a:schemeClr val="bg1"/>
              </a:solidFill>
              <a:latin typeface="Times New Roman Regular" panose="02020603050405020304" charset="0"/>
              <a:cs typeface="Times New Roman Regular" panose="02020603050405020304" charset="0"/>
            </a:endParaRPr>
          </a:p>
        </p:txBody>
      </p:sp>
      <p:sp>
        <p:nvSpPr>
          <p:cNvPr id="17" name="Text Box 16"/>
          <p:cNvSpPr txBox="1"/>
          <p:nvPr/>
        </p:nvSpPr>
        <p:spPr>
          <a:xfrm>
            <a:off x="4235450" y="5353685"/>
            <a:ext cx="3550285" cy="1076325"/>
          </a:xfrm>
          <a:prstGeom prst="rect">
            <a:avLst/>
          </a:prstGeom>
          <a:noFill/>
        </p:spPr>
        <p:txBody>
          <a:bodyPr wrap="square" rtlCol="0" anchor="t">
            <a:spAutoFit/>
          </a:bodyPr>
          <a:p>
            <a:pPr algn="ctr"/>
            <a:r>
              <a:rPr lang="en-US" sz="1600">
                <a:solidFill>
                  <a:srgbClr val="FFC000"/>
                </a:solidFill>
                <a:latin typeface="Times New Roman Regular" panose="02020603050405020304" charset="0"/>
                <a:cs typeface="Times New Roman Regular" panose="02020603050405020304" charset="0"/>
              </a:rPr>
              <a:t>Firebase:</a:t>
            </a:r>
            <a:r>
              <a:rPr lang="en-US" sz="1600">
                <a:solidFill>
                  <a:schemeClr val="bg1"/>
                </a:solidFill>
                <a:latin typeface="Times New Roman Regular" panose="02020603050405020304" charset="0"/>
                <a:cs typeface="Times New Roman Regular" panose="02020603050405020304" charset="0"/>
              </a:rPr>
              <a:t> Google platform providing real-time database, authentication, and hosting for building scalable mobile and web apps.</a:t>
            </a:r>
            <a:endParaRPr lang="en-US" sz="1600">
              <a:solidFill>
                <a:schemeClr val="bg1"/>
              </a:solidFill>
              <a:latin typeface="Times New Roman Regular" panose="02020603050405020304" charset="0"/>
              <a:cs typeface="Times New Roman Regular" panose="02020603050405020304" charset="0"/>
            </a:endParaRPr>
          </a:p>
        </p:txBody>
      </p:sp>
      <p:sp>
        <p:nvSpPr>
          <p:cNvPr id="18" name="Text Box 17"/>
          <p:cNvSpPr txBox="1"/>
          <p:nvPr/>
        </p:nvSpPr>
        <p:spPr>
          <a:xfrm>
            <a:off x="8389620" y="5353685"/>
            <a:ext cx="3550920" cy="2306955"/>
          </a:xfrm>
          <a:prstGeom prst="rect">
            <a:avLst/>
          </a:prstGeom>
          <a:noFill/>
        </p:spPr>
        <p:txBody>
          <a:bodyPr wrap="square" rtlCol="0" anchor="t">
            <a:spAutoFit/>
          </a:bodyPr>
          <a:p>
            <a:pPr algn="ctr"/>
            <a:r>
              <a:rPr lang="en-US" sz="1600">
                <a:solidFill>
                  <a:srgbClr val="FFC000"/>
                </a:solidFill>
                <a:latin typeface="Times New Roman Regular" panose="02020603050405020304" charset="0"/>
                <a:cs typeface="Times New Roman Regular" panose="02020603050405020304" charset="0"/>
              </a:rPr>
              <a:t>Render: </a:t>
            </a:r>
            <a:r>
              <a:rPr lang="en-US" sz="1600">
                <a:solidFill>
                  <a:schemeClr val="bg1"/>
                </a:solidFill>
                <a:latin typeface="Times New Roman Regular" panose="02020603050405020304" charset="0"/>
                <a:cs typeface="Times New Roman Regular" panose="02020603050405020304" charset="0"/>
              </a:rPr>
              <a:t>Cloud platform for easy app deployment with features like automatic scaling and continuous deployment.</a:t>
            </a:r>
            <a:endParaRPr lang="en-US" sz="1600">
              <a:solidFill>
                <a:schemeClr val="bg1"/>
              </a:solidFill>
              <a:latin typeface="Times New Roman Regular" panose="02020603050405020304" charset="0"/>
              <a:cs typeface="Times New Roman Regular" panose="02020603050405020304" charset="0"/>
            </a:endParaRPr>
          </a:p>
          <a:p>
            <a:pPr algn="ctr"/>
            <a:endParaRPr lang="en-US" sz="1600">
              <a:solidFill>
                <a:schemeClr val="bg1"/>
              </a:solidFill>
              <a:latin typeface="Times New Roman Regular" panose="02020603050405020304" charset="0"/>
              <a:cs typeface="Times New Roman Regular" panose="02020603050405020304" charset="0"/>
            </a:endParaRPr>
          </a:p>
          <a:p>
            <a:pPr algn="ctr"/>
            <a:endParaRPr lang="en-US" sz="1600">
              <a:solidFill>
                <a:schemeClr val="bg1"/>
              </a:solidFill>
              <a:latin typeface="Times New Roman Regular" panose="02020603050405020304" charset="0"/>
              <a:cs typeface="Times New Roman Regular" panose="02020603050405020304" charset="0"/>
            </a:endParaRPr>
          </a:p>
          <a:p>
            <a:pPr algn="ctr"/>
            <a:endParaRPr lang="en-US" sz="1600">
              <a:solidFill>
                <a:schemeClr val="bg1"/>
              </a:solidFill>
              <a:latin typeface="Times New Roman Regular" panose="02020603050405020304" charset="0"/>
              <a:cs typeface="Times New Roman Regular" panose="02020603050405020304" charset="0"/>
            </a:endParaRPr>
          </a:p>
          <a:p>
            <a:pPr algn="ctr"/>
            <a:endParaRPr lang="en-US" sz="1600">
              <a:solidFill>
                <a:schemeClr val="bg1"/>
              </a:solidFill>
              <a:latin typeface="Times New Roman Regular" panose="02020603050405020304" charset="0"/>
              <a:cs typeface="Times New Roman Regular" panose="02020603050405020304" charset="0"/>
            </a:endParaRPr>
          </a:p>
          <a:p>
            <a:pPr algn="ctr"/>
            <a:endParaRPr lang="en-US" sz="1600">
              <a:solidFill>
                <a:schemeClr val="bg1"/>
              </a:solidFill>
              <a:latin typeface="Times New Roman Regular" panose="02020603050405020304" charset="0"/>
              <a:cs typeface="Times New Roman Regular" panose="02020603050405020304" charset="0"/>
            </a:endParaRPr>
          </a:p>
          <a:p>
            <a:pPr algn="ctr"/>
            <a:endParaRPr lang="en-US" sz="1600">
              <a:solidFill>
                <a:schemeClr val="bg1"/>
              </a:solidFill>
              <a:latin typeface="Times New Roman Regular" panose="02020603050405020304" charset="0"/>
              <a:cs typeface="Times New Roman Regular" panose="02020603050405020304" charset="0"/>
            </a:endParaRPr>
          </a:p>
        </p:txBody>
      </p:sp>
      <p:sp>
        <p:nvSpPr>
          <p:cNvPr id="19" name="Rectangles 18"/>
          <p:cNvSpPr/>
          <p:nvPr/>
        </p:nvSpPr>
        <p:spPr>
          <a:xfrm>
            <a:off x="166370" y="1325245"/>
            <a:ext cx="11859260" cy="5266055"/>
          </a:xfrm>
          <a:prstGeom prst="rect">
            <a:avLst/>
          </a:prstGeom>
          <a:noFill/>
          <a:ln>
            <a:solidFill>
              <a:srgbClr val="21FF80"/>
            </a:solidFill>
          </a:ln>
          <a:extLst>
            <a:ext uri="{909E8E84-426E-40DD-AFC4-6F175D3DCCD1}">
              <a14:hiddenFill xmlns:a14="http://schemas.microsoft.com/office/drawing/2010/main">
                <a:solidFill>
                  <a:srgbClr val="214156"/>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20" name="Text Box 19"/>
          <p:cNvSpPr txBox="1"/>
          <p:nvPr/>
        </p:nvSpPr>
        <p:spPr>
          <a:xfrm>
            <a:off x="273050" y="936625"/>
            <a:ext cx="3828415" cy="337185"/>
          </a:xfrm>
          <a:prstGeom prst="rect">
            <a:avLst/>
          </a:prstGeom>
          <a:noFill/>
        </p:spPr>
        <p:txBody>
          <a:bodyPr wrap="square" rtlCol="0" anchor="t">
            <a:spAutoFit/>
          </a:bodyPr>
          <a:p>
            <a:pPr marL="342900" indent="-342900">
              <a:buFont typeface="Wingdings" panose="05000000000000000000" charset="0"/>
              <a:buChar char=""/>
            </a:pPr>
            <a:r>
              <a:rPr lang="en-US" sz="1600" u="sng">
                <a:solidFill>
                  <a:srgbClr val="21FF80"/>
                </a:solidFill>
                <a:latin typeface="Arial Black" panose="020B0A04020102020204" charset="0"/>
                <a:cs typeface="Arial Black" panose="020B0A04020102020204" charset="0"/>
              </a:rPr>
              <a:t>Technologies Used :</a:t>
            </a:r>
            <a:endParaRPr lang="en-US" sz="1600" u="sng">
              <a:solidFill>
                <a:srgbClr val="21FF80"/>
              </a:solidFill>
              <a:latin typeface="Arial Black" panose="020B0A04020102020204" charset="0"/>
              <a:cs typeface="Arial Black" panose="020B0A04020102020204" charset="0"/>
            </a:endParaRPr>
          </a:p>
        </p:txBody>
      </p:sp>
      <p:pic>
        <p:nvPicPr>
          <p:cNvPr id="22" name="Picture 21" descr="cloud-computing"/>
          <p:cNvPicPr>
            <a:picLocks noChangeAspect="1"/>
          </p:cNvPicPr>
          <p:nvPr/>
        </p:nvPicPr>
        <p:blipFill>
          <a:blip r:embed="rId6"/>
          <a:stretch>
            <a:fillRect/>
          </a:stretch>
        </p:blipFill>
        <p:spPr>
          <a:xfrm>
            <a:off x="5471160" y="4271645"/>
            <a:ext cx="1078865" cy="1078865"/>
          </a:xfrm>
          <a:prstGeom prst="rect">
            <a:avLst/>
          </a:prstGeom>
        </p:spPr>
      </p:pic>
      <p:pic>
        <p:nvPicPr>
          <p:cNvPr id="23" name="Picture 22" descr="Firebase-logo-02"/>
          <p:cNvPicPr>
            <a:picLocks noChangeAspect="1"/>
          </p:cNvPicPr>
          <p:nvPr/>
        </p:nvPicPr>
        <p:blipFill>
          <a:blip r:embed="rId7"/>
          <a:stretch>
            <a:fillRect/>
          </a:stretch>
        </p:blipFill>
        <p:spPr>
          <a:xfrm>
            <a:off x="5822315" y="4443095"/>
            <a:ext cx="376555" cy="37655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4" name="Text Box 3"/>
          <p:cNvSpPr txBox="1"/>
          <p:nvPr/>
        </p:nvSpPr>
        <p:spPr>
          <a:xfrm>
            <a:off x="166370" y="205740"/>
            <a:ext cx="6837680"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EXPERIMENTAL SETUP</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19" name="Rectangles 18"/>
          <p:cNvSpPr/>
          <p:nvPr/>
        </p:nvSpPr>
        <p:spPr>
          <a:xfrm>
            <a:off x="166370" y="1325245"/>
            <a:ext cx="11859260" cy="5266055"/>
          </a:xfrm>
          <a:prstGeom prst="rect">
            <a:avLst/>
          </a:prstGeom>
          <a:noFill/>
          <a:ln>
            <a:solidFill>
              <a:srgbClr val="21FF80"/>
            </a:solidFill>
          </a:ln>
          <a:extLst>
            <a:ext uri="{909E8E84-426E-40DD-AFC4-6F175D3DCCD1}">
              <a14:hiddenFill xmlns:a14="http://schemas.microsoft.com/office/drawing/2010/main">
                <a:solidFill>
                  <a:srgbClr val="214156"/>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20" name="Text Box 19"/>
          <p:cNvSpPr txBox="1"/>
          <p:nvPr/>
        </p:nvSpPr>
        <p:spPr>
          <a:xfrm>
            <a:off x="273050" y="936625"/>
            <a:ext cx="6431915" cy="337185"/>
          </a:xfrm>
          <a:prstGeom prst="rect">
            <a:avLst/>
          </a:prstGeom>
          <a:noFill/>
        </p:spPr>
        <p:txBody>
          <a:bodyPr wrap="square" rtlCol="0" anchor="t">
            <a:spAutoFit/>
          </a:bodyPr>
          <a:p>
            <a:pPr marL="342900" indent="-342900">
              <a:buFont typeface="Wingdings" panose="05000000000000000000" charset="0"/>
              <a:buChar char=""/>
            </a:pPr>
            <a:r>
              <a:rPr lang="en-US" sz="1600" u="sng">
                <a:solidFill>
                  <a:srgbClr val="21FF80"/>
                </a:solidFill>
                <a:latin typeface="Arial Black" panose="020B0A04020102020204" charset="0"/>
                <a:cs typeface="Arial Black" panose="020B0A04020102020204" charset="0"/>
              </a:rPr>
              <a:t>Technologies Used for Tracking :</a:t>
            </a:r>
            <a:endParaRPr lang="en-US" sz="1600" u="sng">
              <a:solidFill>
                <a:srgbClr val="21FF80"/>
              </a:solidFill>
              <a:latin typeface="Arial Black" panose="020B0A04020102020204" charset="0"/>
              <a:cs typeface="Arial Black" panose="020B0A04020102020204" charset="0"/>
            </a:endParaRPr>
          </a:p>
        </p:txBody>
      </p:sp>
      <p:pic>
        <p:nvPicPr>
          <p:cNvPr id="3" name="Picture 2" descr="google-gemini-icon"/>
          <p:cNvPicPr>
            <a:picLocks noChangeAspect="1"/>
          </p:cNvPicPr>
          <p:nvPr/>
        </p:nvPicPr>
        <p:blipFill>
          <a:blip r:embed="rId1"/>
          <a:stretch>
            <a:fillRect/>
          </a:stretch>
        </p:blipFill>
        <p:spPr>
          <a:xfrm>
            <a:off x="8441055" y="1969135"/>
            <a:ext cx="1282700" cy="1282700"/>
          </a:xfrm>
          <a:prstGeom prst="rect">
            <a:avLst/>
          </a:prstGeom>
          <a:ln w="57150">
            <a:noFill/>
          </a:ln>
        </p:spPr>
      </p:pic>
      <p:pic>
        <p:nvPicPr>
          <p:cNvPr id="9" name="Picture 8" descr="nlp"/>
          <p:cNvPicPr>
            <a:picLocks noChangeAspect="1"/>
          </p:cNvPicPr>
          <p:nvPr/>
        </p:nvPicPr>
        <p:blipFill>
          <a:blip r:embed="rId2"/>
          <a:stretch>
            <a:fillRect/>
          </a:stretch>
        </p:blipFill>
        <p:spPr>
          <a:xfrm>
            <a:off x="2733040" y="1969135"/>
            <a:ext cx="1282700" cy="1282700"/>
          </a:xfrm>
          <a:prstGeom prst="rect">
            <a:avLst/>
          </a:prstGeom>
        </p:spPr>
      </p:pic>
      <p:sp>
        <p:nvSpPr>
          <p:cNvPr id="12" name="Text Box 11"/>
          <p:cNvSpPr txBox="1"/>
          <p:nvPr/>
        </p:nvSpPr>
        <p:spPr>
          <a:xfrm>
            <a:off x="6611620" y="3782695"/>
            <a:ext cx="4940935" cy="1568450"/>
          </a:xfrm>
          <a:prstGeom prst="rect">
            <a:avLst/>
          </a:prstGeom>
          <a:noFill/>
        </p:spPr>
        <p:txBody>
          <a:bodyPr wrap="square" rtlCol="0" anchor="t">
            <a:spAutoFit/>
          </a:bodyPr>
          <a:p>
            <a:pPr algn="just"/>
            <a:r>
              <a:rPr lang="en-US" sz="1600">
                <a:solidFill>
                  <a:schemeClr val="bg1"/>
                </a:solidFill>
                <a:latin typeface="Times New Roman Regular" panose="02020603050405020304" charset="0"/>
                <a:cs typeface="Times New Roman Regular" panose="02020603050405020304" charset="0"/>
              </a:rPr>
              <a:t>Google Gemini is a cutting-edge family of multimodal AI models developed by Google DeepMind. Unlike traditional models, Gemini can understand and generate text, images, code, audio, and video — making it one of the most powerful and versatile AI systems available today.</a:t>
            </a:r>
            <a:endParaRPr lang="en-US" sz="1600">
              <a:solidFill>
                <a:schemeClr val="bg1"/>
              </a:solidFill>
              <a:latin typeface="Times New Roman Regular" panose="02020603050405020304" charset="0"/>
              <a:cs typeface="Times New Roman Regular" panose="02020603050405020304" charset="0"/>
            </a:endParaRPr>
          </a:p>
        </p:txBody>
      </p:sp>
      <p:sp>
        <p:nvSpPr>
          <p:cNvPr id="21" name="Text Box 20"/>
          <p:cNvSpPr txBox="1"/>
          <p:nvPr/>
        </p:nvSpPr>
        <p:spPr>
          <a:xfrm>
            <a:off x="7051040" y="3327400"/>
            <a:ext cx="4062730" cy="368300"/>
          </a:xfrm>
          <a:prstGeom prst="rect">
            <a:avLst/>
          </a:prstGeom>
          <a:noFill/>
        </p:spPr>
        <p:txBody>
          <a:bodyPr wrap="square" rtlCol="0" anchor="t">
            <a:spAutoFit/>
          </a:bodyPr>
          <a:p>
            <a:pPr algn="ctr"/>
            <a:r>
              <a:rPr lang="en-US" b="1">
                <a:solidFill>
                  <a:srgbClr val="FFC000"/>
                </a:solidFill>
                <a:latin typeface="Times New Roman Bold" panose="02020603050405020304" charset="0"/>
                <a:cs typeface="Times New Roman Bold" panose="02020603050405020304" charset="0"/>
              </a:rPr>
              <a:t>Google Gemini: Revolutionizing AI</a:t>
            </a:r>
            <a:endParaRPr lang="en-US" b="1">
              <a:solidFill>
                <a:srgbClr val="FFC000"/>
              </a:solidFill>
              <a:latin typeface="Times New Roman Bold" panose="02020603050405020304" charset="0"/>
              <a:cs typeface="Times New Roman Bold" panose="02020603050405020304" charset="0"/>
            </a:endParaRPr>
          </a:p>
        </p:txBody>
      </p:sp>
      <p:sp>
        <p:nvSpPr>
          <p:cNvPr id="24" name="Text Box 23"/>
          <p:cNvSpPr txBox="1"/>
          <p:nvPr/>
        </p:nvSpPr>
        <p:spPr>
          <a:xfrm>
            <a:off x="903605" y="3771265"/>
            <a:ext cx="4940935" cy="2306955"/>
          </a:xfrm>
          <a:prstGeom prst="rect">
            <a:avLst/>
          </a:prstGeom>
          <a:noFill/>
        </p:spPr>
        <p:txBody>
          <a:bodyPr wrap="square" rtlCol="0" anchor="t">
            <a:spAutoFit/>
          </a:bodyPr>
          <a:p>
            <a:pPr algn="just"/>
            <a:r>
              <a:rPr lang="en-US" sz="1600">
                <a:solidFill>
                  <a:schemeClr val="bg1"/>
                </a:solidFill>
                <a:latin typeface="Times New Roman Regular" panose="02020603050405020304" charset="0"/>
                <a:cs typeface="Times New Roman Regular" panose="02020603050405020304" charset="0"/>
              </a:rPr>
              <a:t>Natural Language Processing (</a:t>
            </a:r>
            <a:r>
              <a:rPr lang="en-US" sz="1600">
                <a:solidFill>
                  <a:srgbClr val="FFC000"/>
                </a:solidFill>
                <a:latin typeface="Times New Roman Regular" panose="02020603050405020304" charset="0"/>
                <a:cs typeface="Times New Roman Regular" panose="02020603050405020304" charset="0"/>
              </a:rPr>
              <a:t>NLP</a:t>
            </a:r>
            <a:r>
              <a:rPr lang="en-US" sz="1600">
                <a:solidFill>
                  <a:schemeClr val="bg1"/>
                </a:solidFill>
                <a:latin typeface="Times New Roman Regular" panose="02020603050405020304" charset="0"/>
                <a:cs typeface="Times New Roman Regular" panose="02020603050405020304" charset="0"/>
              </a:rPr>
              <a:t>) is a branch of artificial intelligence that enables machines to understand, interpret, and generate human language. It powers applications like chatbots, voice assistants, language translation, sentiment analysis, and text summarization. By combining linguistics and machine learning, NLP allows computers to interact with people in a more natural and meaningful way.</a:t>
            </a:r>
            <a:endParaRPr lang="en-US" sz="1600">
              <a:solidFill>
                <a:schemeClr val="bg1"/>
              </a:solidFill>
              <a:latin typeface="Times New Roman Regular" panose="02020603050405020304" charset="0"/>
              <a:cs typeface="Times New Roman Regular" panose="02020603050405020304" charset="0"/>
            </a:endParaRPr>
          </a:p>
          <a:p>
            <a:pPr algn="just"/>
            <a:endParaRPr lang="en-US" sz="1600">
              <a:solidFill>
                <a:schemeClr val="bg1"/>
              </a:solidFill>
              <a:latin typeface="Times New Roman Regular" panose="02020603050405020304" charset="0"/>
              <a:cs typeface="Times New Roman Regular" panose="02020603050405020304" charset="0"/>
            </a:endParaRPr>
          </a:p>
        </p:txBody>
      </p:sp>
      <p:sp>
        <p:nvSpPr>
          <p:cNvPr id="25" name="Text Box 24"/>
          <p:cNvSpPr txBox="1"/>
          <p:nvPr/>
        </p:nvSpPr>
        <p:spPr>
          <a:xfrm>
            <a:off x="1155065" y="3327400"/>
            <a:ext cx="4438650" cy="368300"/>
          </a:xfrm>
          <a:prstGeom prst="rect">
            <a:avLst/>
          </a:prstGeom>
          <a:noFill/>
        </p:spPr>
        <p:txBody>
          <a:bodyPr wrap="square" rtlCol="0" anchor="t">
            <a:spAutoFit/>
          </a:bodyPr>
          <a:p>
            <a:pPr algn="ctr"/>
            <a:r>
              <a:rPr lang="en-US" b="1">
                <a:solidFill>
                  <a:srgbClr val="FFC000"/>
                </a:solidFill>
                <a:latin typeface="Times New Roman Bold" panose="02020603050405020304" charset="0"/>
                <a:cs typeface="Times New Roman Bold" panose="02020603050405020304" charset="0"/>
              </a:rPr>
              <a:t>Natural Language Processing (NLP)</a:t>
            </a:r>
            <a:endParaRPr lang="en-US" b="1">
              <a:solidFill>
                <a:srgbClr val="FFC000"/>
              </a:solidFill>
              <a:latin typeface="Times New Roman Bold" panose="02020603050405020304" charset="0"/>
              <a:cs typeface="Times New Roman Bold"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407035" y="343535"/>
            <a:ext cx="526605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Setup Overview</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cxnSp>
        <p:nvCxnSpPr>
          <p:cNvPr id="3" name="Straight Connector 2"/>
          <p:cNvCxnSpPr/>
          <p:nvPr/>
        </p:nvCxnSpPr>
        <p:spPr>
          <a:xfrm>
            <a:off x="6122670" y="1132205"/>
            <a:ext cx="0" cy="4754245"/>
          </a:xfrm>
          <a:prstGeom prst="line">
            <a:avLst/>
          </a:prstGeom>
          <a:ln w="28575">
            <a:solidFill>
              <a:srgbClr val="21FF80"/>
            </a:solidFill>
          </a:ln>
        </p:spPr>
        <p:style>
          <a:lnRef idx="3">
            <a:schemeClr val="dk1"/>
          </a:lnRef>
          <a:fillRef idx="0">
            <a:schemeClr val="dk1"/>
          </a:fillRef>
          <a:effectRef idx="2">
            <a:schemeClr val="dk1"/>
          </a:effectRef>
          <a:fontRef idx="minor">
            <a:schemeClr val="tx1"/>
          </a:fontRef>
        </p:style>
      </p:cxnSp>
      <p:sp>
        <p:nvSpPr>
          <p:cNvPr id="4" name="Rectangles 3"/>
          <p:cNvSpPr/>
          <p:nvPr/>
        </p:nvSpPr>
        <p:spPr>
          <a:xfrm>
            <a:off x="5922010" y="1266190"/>
            <a:ext cx="401955" cy="375920"/>
          </a:xfrm>
          <a:prstGeom prst="rect">
            <a:avLst/>
          </a:prstGeom>
          <a:solidFill>
            <a:srgbClr val="21FF80"/>
          </a:solidFill>
          <a:ln>
            <a:solidFill>
              <a:srgbClr val="21FF8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latin typeface="Arial Black" panose="020B0A04020102020204" charset="0"/>
                <a:cs typeface="Arial Black" panose="020B0A04020102020204" charset="0"/>
              </a:rPr>
              <a:t>1</a:t>
            </a:r>
            <a:endParaRPr lang="en-US" b="1">
              <a:solidFill>
                <a:schemeClr val="tx1"/>
              </a:solidFill>
              <a:latin typeface="Arial Black" panose="020B0A04020102020204" charset="0"/>
              <a:cs typeface="Arial Black" panose="020B0A04020102020204" charset="0"/>
            </a:endParaRPr>
          </a:p>
        </p:txBody>
      </p:sp>
      <p:sp>
        <p:nvSpPr>
          <p:cNvPr id="5" name="Rectangles 4"/>
          <p:cNvSpPr/>
          <p:nvPr/>
        </p:nvSpPr>
        <p:spPr>
          <a:xfrm>
            <a:off x="5922010" y="2185670"/>
            <a:ext cx="401955" cy="375920"/>
          </a:xfrm>
          <a:prstGeom prst="rect">
            <a:avLst/>
          </a:prstGeom>
          <a:solidFill>
            <a:srgbClr val="21FF80"/>
          </a:solidFill>
          <a:ln>
            <a:solidFill>
              <a:srgbClr val="21FF8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latin typeface="Arial Black" panose="020B0A04020102020204" charset="0"/>
                <a:cs typeface="Arial Black" panose="020B0A04020102020204" charset="0"/>
              </a:rPr>
              <a:t>2</a:t>
            </a:r>
            <a:endParaRPr lang="en-US" b="1">
              <a:solidFill>
                <a:schemeClr val="tx1"/>
              </a:solidFill>
              <a:latin typeface="Arial Black" panose="020B0A04020102020204" charset="0"/>
              <a:cs typeface="Arial Black" panose="020B0A04020102020204" charset="0"/>
            </a:endParaRPr>
          </a:p>
        </p:txBody>
      </p:sp>
      <p:sp>
        <p:nvSpPr>
          <p:cNvPr id="6" name="Rectangles 5"/>
          <p:cNvSpPr/>
          <p:nvPr/>
        </p:nvSpPr>
        <p:spPr>
          <a:xfrm>
            <a:off x="5922010" y="3241040"/>
            <a:ext cx="401955" cy="375920"/>
          </a:xfrm>
          <a:prstGeom prst="rect">
            <a:avLst/>
          </a:prstGeom>
          <a:solidFill>
            <a:srgbClr val="21FF80"/>
          </a:solidFill>
          <a:ln>
            <a:solidFill>
              <a:srgbClr val="21FF8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latin typeface="Arial Black" panose="020B0A04020102020204" charset="0"/>
                <a:cs typeface="Arial Black" panose="020B0A04020102020204" charset="0"/>
              </a:rPr>
              <a:t>3</a:t>
            </a:r>
            <a:endParaRPr lang="en-US" b="1">
              <a:solidFill>
                <a:schemeClr val="tx1"/>
              </a:solidFill>
              <a:latin typeface="Arial Black" panose="020B0A04020102020204" charset="0"/>
              <a:cs typeface="Arial Black" panose="020B0A04020102020204" charset="0"/>
            </a:endParaRPr>
          </a:p>
        </p:txBody>
      </p:sp>
      <p:sp>
        <p:nvSpPr>
          <p:cNvPr id="7" name="Rectangles 6"/>
          <p:cNvSpPr/>
          <p:nvPr/>
        </p:nvSpPr>
        <p:spPr>
          <a:xfrm>
            <a:off x="5922010" y="4296410"/>
            <a:ext cx="401955" cy="375920"/>
          </a:xfrm>
          <a:prstGeom prst="rect">
            <a:avLst/>
          </a:prstGeom>
          <a:solidFill>
            <a:srgbClr val="21FF80"/>
          </a:solidFill>
          <a:ln>
            <a:solidFill>
              <a:srgbClr val="21FF8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latin typeface="Arial Black" panose="020B0A04020102020204" charset="0"/>
                <a:cs typeface="Arial Black" panose="020B0A04020102020204" charset="0"/>
              </a:rPr>
              <a:t>4</a:t>
            </a:r>
            <a:endParaRPr lang="en-US" b="1">
              <a:solidFill>
                <a:schemeClr val="tx1"/>
              </a:solidFill>
              <a:latin typeface="Arial Black" panose="020B0A04020102020204" charset="0"/>
              <a:cs typeface="Arial Black" panose="020B0A04020102020204" charset="0"/>
            </a:endParaRPr>
          </a:p>
        </p:txBody>
      </p:sp>
      <p:sp>
        <p:nvSpPr>
          <p:cNvPr id="8" name="Rectangles 7"/>
          <p:cNvSpPr/>
          <p:nvPr/>
        </p:nvSpPr>
        <p:spPr>
          <a:xfrm>
            <a:off x="5922010" y="5215890"/>
            <a:ext cx="401955" cy="375920"/>
          </a:xfrm>
          <a:prstGeom prst="rect">
            <a:avLst/>
          </a:prstGeom>
          <a:solidFill>
            <a:srgbClr val="21FF80"/>
          </a:solidFill>
          <a:ln>
            <a:solidFill>
              <a:srgbClr val="21FF8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latin typeface="Arial Black" panose="020B0A04020102020204" charset="0"/>
                <a:cs typeface="Arial Black" panose="020B0A04020102020204" charset="0"/>
              </a:rPr>
              <a:t>5</a:t>
            </a:r>
            <a:endParaRPr lang="en-US" b="1">
              <a:solidFill>
                <a:schemeClr val="tx1"/>
              </a:solidFill>
              <a:latin typeface="Arial Black" panose="020B0A04020102020204" charset="0"/>
              <a:cs typeface="Arial Black" panose="020B0A04020102020204" charset="0"/>
            </a:endParaRPr>
          </a:p>
        </p:txBody>
      </p:sp>
      <p:sp>
        <p:nvSpPr>
          <p:cNvPr id="10" name="Text Box 9"/>
          <p:cNvSpPr txBox="1"/>
          <p:nvPr/>
        </p:nvSpPr>
        <p:spPr>
          <a:xfrm>
            <a:off x="-118110" y="1226185"/>
            <a:ext cx="5750560" cy="953135"/>
          </a:xfrm>
          <a:prstGeom prst="rect">
            <a:avLst/>
          </a:prstGeom>
          <a:noFill/>
        </p:spPr>
        <p:txBody>
          <a:bodyPr wrap="square" rtlCol="0" anchor="t">
            <a:spAutoFit/>
          </a:bodyPr>
          <a:p>
            <a:pPr algn="r"/>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Flutter</a:t>
            </a:r>
            <a:endPar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a:p>
            <a:pPr algn="r"/>
            <a:r>
              <a:rPr lang="en-US">
                <a:solidFill>
                  <a:schemeClr val="bg1"/>
                </a:solidFill>
                <a:latin typeface="Times New Roman Regular" panose="02020603050405020304" charset="0"/>
                <a:cs typeface="Times New Roman Regular" panose="02020603050405020304" charset="0"/>
              </a:rPr>
              <a:t>Front-end framework that communicates with Flask via HTTP requests, updating the UI based on user actions.</a:t>
            </a:r>
            <a:endParaRPr lang="en-US">
              <a:solidFill>
                <a:schemeClr val="bg1"/>
              </a:solidFill>
              <a:latin typeface="Times New Roman Regular" panose="02020603050405020304" charset="0"/>
              <a:cs typeface="Times New Roman Regular" panose="02020603050405020304" charset="0"/>
            </a:endParaRPr>
          </a:p>
        </p:txBody>
      </p:sp>
      <p:sp>
        <p:nvSpPr>
          <p:cNvPr id="11" name="Text Box 10"/>
          <p:cNvSpPr txBox="1"/>
          <p:nvPr/>
        </p:nvSpPr>
        <p:spPr>
          <a:xfrm>
            <a:off x="6670675" y="2185670"/>
            <a:ext cx="5521325" cy="1506855"/>
          </a:xfrm>
          <a:prstGeom prst="rect">
            <a:avLst/>
          </a:prstGeom>
          <a:noFill/>
        </p:spPr>
        <p:txBody>
          <a:bodyPr wrap="square" rtlCol="0" anchor="t">
            <a:spAutoFit/>
          </a:bodyPr>
          <a:p>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Flask</a:t>
            </a:r>
            <a:endParaRPr lang="en-US" sz="1600">
              <a:solidFill>
                <a:schemeClr val="bg1"/>
              </a:solidFill>
              <a:latin typeface="Arial Black" panose="020B0A04020102020204" charset="0"/>
              <a:cs typeface="Arial Black" panose="020B0A04020102020204" charset="0"/>
            </a:endParaRPr>
          </a:p>
          <a:p>
            <a:r>
              <a:rPr lang="en-US">
                <a:solidFill>
                  <a:schemeClr val="bg1"/>
                </a:solidFill>
                <a:latin typeface="Times New Roman Regular" panose="02020603050405020304" charset="0"/>
                <a:cs typeface="Times New Roman Regular" panose="02020603050405020304" charset="0"/>
              </a:rPr>
              <a:t>Back-end framework that processes API requests from Flutter, interacts with databases (MongoDB/Firebase), and sends responses.</a:t>
            </a:r>
            <a:endParaRPr lang="en-US">
              <a:solidFill>
                <a:schemeClr val="bg1"/>
              </a:solidFill>
              <a:latin typeface="Times New Roman Regular" panose="02020603050405020304" charset="0"/>
              <a:cs typeface="Times New Roman Regular" panose="02020603050405020304" charset="0"/>
            </a:endParaRPr>
          </a:p>
          <a:p>
            <a:endParaRPr lang="en-US">
              <a:solidFill>
                <a:schemeClr val="bg1"/>
              </a:solidFill>
              <a:latin typeface="Times New Roman Regular" panose="02020603050405020304" charset="0"/>
              <a:cs typeface="Times New Roman Regular" panose="02020603050405020304" charset="0"/>
            </a:endParaRPr>
          </a:p>
        </p:txBody>
      </p:sp>
      <p:sp>
        <p:nvSpPr>
          <p:cNvPr id="12" name="Text Box 11"/>
          <p:cNvSpPr txBox="1"/>
          <p:nvPr/>
        </p:nvSpPr>
        <p:spPr>
          <a:xfrm>
            <a:off x="184785" y="3241040"/>
            <a:ext cx="5434330" cy="922020"/>
          </a:xfrm>
          <a:prstGeom prst="rect">
            <a:avLst/>
          </a:prstGeom>
          <a:noFill/>
        </p:spPr>
        <p:txBody>
          <a:bodyPr wrap="square" rtlCol="0" anchor="t">
            <a:spAutoFit/>
          </a:bodyPr>
          <a:p>
            <a:pPr algn="r"/>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MongoDB</a:t>
            </a:r>
            <a:endParaRPr lang="en-US"/>
          </a:p>
          <a:p>
            <a:pPr algn="r"/>
            <a:r>
              <a:rPr lang="en-US">
                <a:solidFill>
                  <a:schemeClr val="bg1"/>
                </a:solidFill>
                <a:latin typeface="Times New Roman Regular" panose="02020603050405020304" charset="0"/>
                <a:cs typeface="Times New Roman Regular" panose="02020603050405020304" charset="0"/>
              </a:rPr>
              <a:t>NoSQL database used by Flask for flexible data storage and complex queries.</a:t>
            </a:r>
            <a:endParaRPr lang="en-US">
              <a:solidFill>
                <a:schemeClr val="bg1"/>
              </a:solidFill>
              <a:latin typeface="Times New Roman Regular" panose="02020603050405020304" charset="0"/>
              <a:cs typeface="Times New Roman Regular" panose="02020603050405020304" charset="0"/>
            </a:endParaRPr>
          </a:p>
        </p:txBody>
      </p:sp>
      <p:sp>
        <p:nvSpPr>
          <p:cNvPr id="13" name="Text Box 12"/>
          <p:cNvSpPr txBox="1"/>
          <p:nvPr/>
        </p:nvSpPr>
        <p:spPr>
          <a:xfrm>
            <a:off x="6670675" y="4296410"/>
            <a:ext cx="5166995" cy="922020"/>
          </a:xfrm>
          <a:prstGeom prst="rect">
            <a:avLst/>
          </a:prstGeom>
          <a:noFill/>
        </p:spPr>
        <p:txBody>
          <a:bodyPr wrap="square" rtlCol="0" anchor="t">
            <a:spAutoFit/>
          </a:bodyPr>
          <a:p>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Firebase</a:t>
            </a:r>
            <a:endParaRPr lang="en-US"/>
          </a:p>
          <a:p>
            <a:r>
              <a:rPr lang="en-US">
                <a:solidFill>
                  <a:schemeClr val="bg1"/>
                </a:solidFill>
                <a:latin typeface="Times New Roman Regular" panose="02020603050405020304" charset="0"/>
                <a:cs typeface="Times New Roman Regular" panose="02020603050405020304" charset="0"/>
              </a:rPr>
              <a:t>Real-time database for syncing data instantly across clients, ideal for collaborative apps.</a:t>
            </a:r>
            <a:endParaRPr lang="en-US">
              <a:solidFill>
                <a:schemeClr val="bg1"/>
              </a:solidFill>
              <a:latin typeface="Times New Roman Regular" panose="02020603050405020304" charset="0"/>
              <a:cs typeface="Times New Roman Regular" panose="02020603050405020304" charset="0"/>
            </a:endParaRPr>
          </a:p>
        </p:txBody>
      </p:sp>
      <p:sp>
        <p:nvSpPr>
          <p:cNvPr id="14" name="Text Box 13"/>
          <p:cNvSpPr txBox="1"/>
          <p:nvPr/>
        </p:nvSpPr>
        <p:spPr>
          <a:xfrm>
            <a:off x="-105410" y="5224780"/>
            <a:ext cx="5778500" cy="891540"/>
          </a:xfrm>
          <a:prstGeom prst="rect">
            <a:avLst/>
          </a:prstGeom>
          <a:noFill/>
        </p:spPr>
        <p:txBody>
          <a:bodyPr wrap="square" rtlCol="0" anchor="t">
            <a:spAutoFit/>
          </a:bodyPr>
          <a:p>
            <a:pPr algn="r"/>
            <a:r>
              <a:rPr lang="en-US" sz="16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sym typeface="+mn-ea"/>
              </a:rPr>
              <a:t>Render.com</a:t>
            </a:r>
            <a:endParaRPr lang="en-US" sz="16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sym typeface="+mn-ea"/>
            </a:endParaRPr>
          </a:p>
          <a:p>
            <a:pPr algn="r"/>
            <a:r>
              <a:rPr lang="en-US">
                <a:solidFill>
                  <a:schemeClr val="bg1"/>
                </a:solidFill>
                <a:latin typeface="Times New Roman Regular" panose="02020603050405020304" charset="0"/>
                <a:cs typeface="Times New Roman Regular" panose="02020603050405020304" charset="0"/>
                <a:sym typeface="+mn-ea"/>
              </a:rPr>
              <a:t>Cloud platform that deploys and manages the app, supporting continuous deployment and scaling.</a:t>
            </a:r>
            <a:endParaRPr lang="en-US">
              <a:solidFill>
                <a:schemeClr val="bg1"/>
              </a:solidFill>
              <a:latin typeface="Times New Roman Regular" panose="02020603050405020304" charset="0"/>
              <a:cs typeface="Times New Roman Regular" panose="02020603050405020304" charset="0"/>
              <a:sym typeface="+mn-ea"/>
            </a:endParaRPr>
          </a:p>
        </p:txBody>
      </p:sp>
      <p:cxnSp>
        <p:nvCxnSpPr>
          <p:cNvPr id="15" name="Straight Connector 14"/>
          <p:cNvCxnSpPr>
            <a:stCxn id="4" idx="1"/>
          </p:cNvCxnSpPr>
          <p:nvPr/>
        </p:nvCxnSpPr>
        <p:spPr>
          <a:xfrm flipH="1">
            <a:off x="5558790" y="1454150"/>
            <a:ext cx="363220" cy="0"/>
          </a:xfrm>
          <a:prstGeom prst="line">
            <a:avLst/>
          </a:prstGeom>
          <a:ln w="28575">
            <a:solidFill>
              <a:srgbClr val="21FF80"/>
            </a:solidFill>
          </a:ln>
        </p:spPr>
        <p:style>
          <a:lnRef idx="3">
            <a:schemeClr val="accent1"/>
          </a:lnRef>
          <a:fillRef idx="0">
            <a:schemeClr val="accent1"/>
          </a:fillRef>
          <a:effectRef idx="2">
            <a:schemeClr val="accent1"/>
          </a:effectRef>
          <a:fontRef idx="minor">
            <a:schemeClr val="tx1"/>
          </a:fontRef>
        </p:style>
      </p:cxnSp>
      <p:cxnSp>
        <p:nvCxnSpPr>
          <p:cNvPr id="16" name="Straight Connector 15"/>
          <p:cNvCxnSpPr/>
          <p:nvPr/>
        </p:nvCxnSpPr>
        <p:spPr>
          <a:xfrm flipH="1">
            <a:off x="6323330" y="2373630"/>
            <a:ext cx="417830" cy="0"/>
          </a:xfrm>
          <a:prstGeom prst="line">
            <a:avLst/>
          </a:prstGeom>
          <a:ln w="28575">
            <a:solidFill>
              <a:srgbClr val="21FF80"/>
            </a:solidFill>
          </a:ln>
        </p:spPr>
        <p:style>
          <a:lnRef idx="3">
            <a:schemeClr val="accent1"/>
          </a:lnRef>
          <a:fillRef idx="0">
            <a:schemeClr val="accent1"/>
          </a:fillRef>
          <a:effectRef idx="2">
            <a:schemeClr val="accent1"/>
          </a:effectRef>
          <a:fontRef idx="minor">
            <a:schemeClr val="tx1"/>
          </a:fontRef>
        </p:style>
      </p:cxnSp>
      <p:cxnSp>
        <p:nvCxnSpPr>
          <p:cNvPr id="17" name="Straight Connector 16"/>
          <p:cNvCxnSpPr/>
          <p:nvPr/>
        </p:nvCxnSpPr>
        <p:spPr>
          <a:xfrm flipH="1">
            <a:off x="5545455" y="3429000"/>
            <a:ext cx="403225" cy="0"/>
          </a:xfrm>
          <a:prstGeom prst="line">
            <a:avLst/>
          </a:prstGeom>
          <a:ln w="28575">
            <a:solidFill>
              <a:srgbClr val="21FF80"/>
            </a:solidFill>
          </a:ln>
        </p:spPr>
        <p:style>
          <a:lnRef idx="3">
            <a:schemeClr val="accent1"/>
          </a:lnRef>
          <a:fillRef idx="0">
            <a:schemeClr val="accent1"/>
          </a:fillRef>
          <a:effectRef idx="2">
            <a:schemeClr val="accent1"/>
          </a:effectRef>
          <a:fontRef idx="minor">
            <a:schemeClr val="tx1"/>
          </a:fontRef>
        </p:style>
      </p:cxnSp>
      <p:cxnSp>
        <p:nvCxnSpPr>
          <p:cNvPr id="18" name="Straight Connector 17"/>
          <p:cNvCxnSpPr/>
          <p:nvPr/>
        </p:nvCxnSpPr>
        <p:spPr>
          <a:xfrm flipH="1">
            <a:off x="6323330" y="4496435"/>
            <a:ext cx="403225" cy="0"/>
          </a:xfrm>
          <a:prstGeom prst="line">
            <a:avLst/>
          </a:prstGeom>
          <a:ln w="28575">
            <a:solidFill>
              <a:srgbClr val="21FF80"/>
            </a:solidFill>
          </a:ln>
        </p:spPr>
        <p:style>
          <a:lnRef idx="3">
            <a:schemeClr val="accent1"/>
          </a:lnRef>
          <a:fillRef idx="0">
            <a:schemeClr val="accent1"/>
          </a:fillRef>
          <a:effectRef idx="2">
            <a:schemeClr val="accent1"/>
          </a:effectRef>
          <a:fontRef idx="minor">
            <a:schemeClr val="tx1"/>
          </a:fontRef>
        </p:style>
      </p:cxnSp>
      <p:cxnSp>
        <p:nvCxnSpPr>
          <p:cNvPr id="19" name="Straight Connector 18"/>
          <p:cNvCxnSpPr/>
          <p:nvPr/>
        </p:nvCxnSpPr>
        <p:spPr>
          <a:xfrm flipH="1">
            <a:off x="5591810" y="5422900"/>
            <a:ext cx="403225" cy="0"/>
          </a:xfrm>
          <a:prstGeom prst="line">
            <a:avLst/>
          </a:prstGeom>
          <a:ln w="28575">
            <a:solidFill>
              <a:srgbClr val="21FF80"/>
            </a:solidFill>
          </a:ln>
        </p:spPr>
        <p:style>
          <a:lnRef idx="3">
            <a:schemeClr val="accent1"/>
          </a:lnRef>
          <a:fillRef idx="0">
            <a:schemeClr val="accent1"/>
          </a:fillRef>
          <a:effectRef idx="2">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407035" y="343535"/>
            <a:ext cx="526605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Setup Overview</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pic>
        <p:nvPicPr>
          <p:cNvPr id="9" name="Picture 8" descr="user"/>
          <p:cNvPicPr>
            <a:picLocks noChangeAspect="1"/>
          </p:cNvPicPr>
          <p:nvPr/>
        </p:nvPicPr>
        <p:blipFill>
          <a:blip r:embed="rId1"/>
          <a:stretch>
            <a:fillRect/>
          </a:stretch>
        </p:blipFill>
        <p:spPr>
          <a:xfrm>
            <a:off x="546735" y="1435100"/>
            <a:ext cx="849630" cy="849630"/>
          </a:xfrm>
          <a:prstGeom prst="rect">
            <a:avLst/>
          </a:prstGeom>
        </p:spPr>
      </p:pic>
      <p:pic>
        <p:nvPicPr>
          <p:cNvPr id="20" name="Picture 19" descr="video"/>
          <p:cNvPicPr>
            <a:picLocks noChangeAspect="1"/>
          </p:cNvPicPr>
          <p:nvPr/>
        </p:nvPicPr>
        <p:blipFill>
          <a:blip r:embed="rId2"/>
          <a:stretch>
            <a:fillRect/>
          </a:stretch>
        </p:blipFill>
        <p:spPr>
          <a:xfrm>
            <a:off x="3338195" y="1435100"/>
            <a:ext cx="849630" cy="849630"/>
          </a:xfrm>
          <a:prstGeom prst="rect">
            <a:avLst/>
          </a:prstGeom>
        </p:spPr>
      </p:pic>
      <p:pic>
        <p:nvPicPr>
          <p:cNvPr id="21" name="Picture 20" descr="ai (1)"/>
          <p:cNvPicPr>
            <a:picLocks noChangeAspect="1"/>
          </p:cNvPicPr>
          <p:nvPr/>
        </p:nvPicPr>
        <p:blipFill>
          <a:blip r:embed="rId3"/>
          <a:stretch>
            <a:fillRect/>
          </a:stretch>
        </p:blipFill>
        <p:spPr>
          <a:xfrm>
            <a:off x="6485890" y="1091565"/>
            <a:ext cx="1333500" cy="1333500"/>
          </a:xfrm>
          <a:prstGeom prst="rect">
            <a:avLst/>
          </a:prstGeom>
        </p:spPr>
      </p:pic>
      <p:pic>
        <p:nvPicPr>
          <p:cNvPr id="22" name="Picture 21" descr="program"/>
          <p:cNvPicPr>
            <a:picLocks noChangeAspect="1"/>
          </p:cNvPicPr>
          <p:nvPr/>
        </p:nvPicPr>
        <p:blipFill>
          <a:blip r:embed="rId4">
            <a:lum bright="-6000" contrast="-12000"/>
          </a:blip>
          <a:stretch>
            <a:fillRect/>
          </a:stretch>
        </p:blipFill>
        <p:spPr>
          <a:xfrm>
            <a:off x="10022205" y="1369060"/>
            <a:ext cx="981075" cy="981075"/>
          </a:xfrm>
          <a:prstGeom prst="rect">
            <a:avLst/>
          </a:prstGeom>
        </p:spPr>
      </p:pic>
      <p:pic>
        <p:nvPicPr>
          <p:cNvPr id="23" name="Picture 22" descr="extract"/>
          <p:cNvPicPr>
            <a:picLocks noChangeAspect="1"/>
          </p:cNvPicPr>
          <p:nvPr/>
        </p:nvPicPr>
        <p:blipFill>
          <a:blip r:embed="rId5"/>
          <a:stretch>
            <a:fillRect/>
          </a:stretch>
        </p:blipFill>
        <p:spPr>
          <a:xfrm>
            <a:off x="10033635" y="4168775"/>
            <a:ext cx="1091565" cy="1090930"/>
          </a:xfrm>
          <a:prstGeom prst="rect">
            <a:avLst/>
          </a:prstGeom>
        </p:spPr>
      </p:pic>
      <p:pic>
        <p:nvPicPr>
          <p:cNvPr id="25" name="Picture 24" descr="badge"/>
          <p:cNvPicPr>
            <a:picLocks noChangeAspect="1"/>
          </p:cNvPicPr>
          <p:nvPr/>
        </p:nvPicPr>
        <p:blipFill>
          <a:blip r:embed="rId6"/>
          <a:stretch>
            <a:fillRect/>
          </a:stretch>
        </p:blipFill>
        <p:spPr>
          <a:xfrm>
            <a:off x="652780" y="4267835"/>
            <a:ext cx="1136650" cy="1136650"/>
          </a:xfrm>
          <a:prstGeom prst="rect">
            <a:avLst/>
          </a:prstGeom>
        </p:spPr>
      </p:pic>
      <p:sp>
        <p:nvSpPr>
          <p:cNvPr id="26" name="Text Box 25"/>
          <p:cNvSpPr txBox="1"/>
          <p:nvPr/>
        </p:nvSpPr>
        <p:spPr>
          <a:xfrm>
            <a:off x="93980" y="2436495"/>
            <a:ext cx="1754505" cy="36830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User</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27" name="Text Box 26"/>
          <p:cNvSpPr txBox="1"/>
          <p:nvPr/>
        </p:nvSpPr>
        <p:spPr>
          <a:xfrm>
            <a:off x="2491105" y="2400300"/>
            <a:ext cx="2540000" cy="36830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Uploads Content</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28" name="Text Box 27"/>
          <p:cNvSpPr txBox="1"/>
          <p:nvPr/>
        </p:nvSpPr>
        <p:spPr>
          <a:xfrm>
            <a:off x="5405120" y="2425065"/>
            <a:ext cx="3494405" cy="36830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 AI Model Processes Content</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29" name="Text Box 28"/>
          <p:cNvSpPr txBox="1"/>
          <p:nvPr/>
        </p:nvSpPr>
        <p:spPr>
          <a:xfrm>
            <a:off x="9213850" y="2436495"/>
            <a:ext cx="2540000" cy="64516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Analyzing the Content</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30" name="Text Box 29"/>
          <p:cNvSpPr txBox="1"/>
          <p:nvPr/>
        </p:nvSpPr>
        <p:spPr>
          <a:xfrm>
            <a:off x="9243060" y="5531485"/>
            <a:ext cx="2540000" cy="36830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Keyword Extraction</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31" name="Text Box 30"/>
          <p:cNvSpPr txBox="1"/>
          <p:nvPr/>
        </p:nvSpPr>
        <p:spPr>
          <a:xfrm>
            <a:off x="5535930" y="5393055"/>
            <a:ext cx="3494405" cy="64516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 Compare with Predefined Keywords</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32" name="Text Box 31"/>
          <p:cNvSpPr txBox="1"/>
          <p:nvPr/>
        </p:nvSpPr>
        <p:spPr>
          <a:xfrm>
            <a:off x="2493010" y="5531485"/>
            <a:ext cx="2540000" cy="36830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Similarity Calculation</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sp>
        <p:nvSpPr>
          <p:cNvPr id="33" name="Text Box 32"/>
          <p:cNvSpPr txBox="1"/>
          <p:nvPr/>
        </p:nvSpPr>
        <p:spPr>
          <a:xfrm>
            <a:off x="-43815" y="5516245"/>
            <a:ext cx="2540000" cy="368300"/>
          </a:xfrm>
          <a:prstGeom prst="rect">
            <a:avLst/>
          </a:prstGeom>
          <a:noFill/>
        </p:spPr>
        <p:txBody>
          <a:bodyPr wrap="square" rtlCol="0" anchor="t">
            <a:spAutoFit/>
          </a:bodyPr>
          <a:p>
            <a:pPr algn="ctr"/>
            <a:r>
              <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Reward User</a:t>
            </a:r>
            <a:endParaRPr lang="en-US" b="1">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endParaRPr>
          </a:p>
        </p:txBody>
      </p:sp>
      <p:pic>
        <p:nvPicPr>
          <p:cNvPr id="34" name="Picture 33" descr="opacity"/>
          <p:cNvPicPr>
            <a:picLocks noChangeAspect="1"/>
          </p:cNvPicPr>
          <p:nvPr/>
        </p:nvPicPr>
        <p:blipFill>
          <a:blip r:embed="rId7"/>
          <a:stretch>
            <a:fillRect/>
          </a:stretch>
        </p:blipFill>
        <p:spPr>
          <a:xfrm>
            <a:off x="3192780" y="4267835"/>
            <a:ext cx="1136650" cy="1136650"/>
          </a:xfrm>
          <a:prstGeom prst="rect">
            <a:avLst/>
          </a:prstGeom>
        </p:spPr>
      </p:pic>
      <p:pic>
        <p:nvPicPr>
          <p:cNvPr id="35" name="Picture 34" descr="transparency"/>
          <p:cNvPicPr>
            <a:picLocks noChangeAspect="1"/>
          </p:cNvPicPr>
          <p:nvPr/>
        </p:nvPicPr>
        <p:blipFill>
          <a:blip r:embed="rId8"/>
          <a:stretch>
            <a:fillRect/>
          </a:stretch>
        </p:blipFill>
        <p:spPr>
          <a:xfrm>
            <a:off x="6727825" y="4168140"/>
            <a:ext cx="1091565" cy="1091565"/>
          </a:xfrm>
          <a:prstGeom prst="rect">
            <a:avLst/>
          </a:prstGeom>
        </p:spPr>
      </p:pic>
      <p:cxnSp>
        <p:nvCxnSpPr>
          <p:cNvPr id="36" name="Straight Arrow Connector 35"/>
          <p:cNvCxnSpPr>
            <a:stCxn id="9" idx="3"/>
            <a:endCxn id="20" idx="1"/>
          </p:cNvCxnSpPr>
          <p:nvPr/>
        </p:nvCxnSpPr>
        <p:spPr>
          <a:xfrm>
            <a:off x="1396365" y="1859915"/>
            <a:ext cx="1941830" cy="0"/>
          </a:xfrm>
          <a:prstGeom prst="straightConnector1">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a:off x="4187825" y="1859280"/>
            <a:ext cx="2352675" cy="0"/>
          </a:xfrm>
          <a:prstGeom prst="straightConnector1">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a:endCxn id="22" idx="1"/>
          </p:cNvCxnSpPr>
          <p:nvPr/>
        </p:nvCxnSpPr>
        <p:spPr>
          <a:xfrm>
            <a:off x="7671435" y="1859280"/>
            <a:ext cx="2350770" cy="635"/>
          </a:xfrm>
          <a:prstGeom prst="straightConnector1">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Elbow Connector 38"/>
          <p:cNvCxnSpPr>
            <a:stCxn id="22" idx="3"/>
            <a:endCxn id="23" idx="3"/>
          </p:cNvCxnSpPr>
          <p:nvPr/>
        </p:nvCxnSpPr>
        <p:spPr>
          <a:xfrm>
            <a:off x="11003280" y="1859915"/>
            <a:ext cx="121920" cy="2854325"/>
          </a:xfrm>
          <a:prstGeom prst="bentConnector3">
            <a:avLst>
              <a:gd name="adj1" fmla="val 788020"/>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flipH="1">
            <a:off x="4234815" y="4713605"/>
            <a:ext cx="2493010" cy="0"/>
          </a:xfrm>
          <a:prstGeom prst="straightConnector1">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flipH="1">
            <a:off x="1590675" y="4713605"/>
            <a:ext cx="1697355" cy="0"/>
          </a:xfrm>
          <a:prstGeom prst="straightConnector1">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flipH="1">
            <a:off x="7819390" y="4713605"/>
            <a:ext cx="2181225" cy="0"/>
          </a:xfrm>
          <a:prstGeom prst="straightConnector1">
            <a:avLst/>
          </a:prstGeom>
          <a:ln w="57150">
            <a:headEnd type="none"/>
            <a:tailEnd type="triangle" w="med" len="med"/>
          </a:ln>
        </p:spPr>
        <p:style>
          <a:lnRef idx="1">
            <a:schemeClr val="accent1"/>
          </a:lnRef>
          <a:fillRef idx="0">
            <a:schemeClr val="accent1"/>
          </a:fillRef>
          <a:effectRef idx="0">
            <a:schemeClr val="accent1"/>
          </a:effectRef>
          <a:fontRef idx="minor">
            <a:schemeClr val="tx1"/>
          </a:fontRef>
        </p:style>
      </p:cxnSp>
      <p:sp>
        <p:nvSpPr>
          <p:cNvPr id="44" name="Text Box 43"/>
          <p:cNvSpPr txBox="1"/>
          <p:nvPr/>
        </p:nvSpPr>
        <p:spPr>
          <a:xfrm>
            <a:off x="2550795" y="2755900"/>
            <a:ext cx="2540000" cy="521970"/>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Video or Image is uploaded to the app</a:t>
            </a:r>
            <a:endParaRPr lang="en-US" sz="1400" i="1">
              <a:solidFill>
                <a:schemeClr val="tx1">
                  <a:lumMod val="50000"/>
                  <a:lumOff val="50000"/>
                </a:schemeClr>
              </a:solidFill>
              <a:latin typeface="Times New Roman Italic" panose="02020603050405020304" charset="0"/>
              <a:cs typeface="Times New Roman Italic" panose="02020603050405020304" charset="0"/>
            </a:endParaRPr>
          </a:p>
        </p:txBody>
      </p:sp>
      <p:sp>
        <p:nvSpPr>
          <p:cNvPr id="45" name="Text Box 44"/>
          <p:cNvSpPr txBox="1"/>
          <p:nvPr/>
        </p:nvSpPr>
        <p:spPr>
          <a:xfrm>
            <a:off x="9309735" y="3031490"/>
            <a:ext cx="2540000" cy="306705"/>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Detects </a:t>
            </a:r>
            <a:r>
              <a:rPr lang="en-US" sz="1200">
                <a:solidFill>
                  <a:schemeClr val="tx1">
                    <a:lumMod val="50000"/>
                    <a:lumOff val="50000"/>
                  </a:schemeClr>
                </a:solidFill>
              </a:rPr>
              <a:t>actions </a:t>
            </a:r>
            <a:endParaRPr lang="en-US" sz="1200">
              <a:solidFill>
                <a:schemeClr val="tx1">
                  <a:lumMod val="50000"/>
                  <a:lumOff val="50000"/>
                </a:schemeClr>
              </a:solidFill>
            </a:endParaRPr>
          </a:p>
        </p:txBody>
      </p:sp>
      <p:sp>
        <p:nvSpPr>
          <p:cNvPr id="46" name="Text Box 45"/>
          <p:cNvSpPr txBox="1"/>
          <p:nvPr/>
        </p:nvSpPr>
        <p:spPr>
          <a:xfrm>
            <a:off x="9469120" y="6171565"/>
            <a:ext cx="2087880" cy="306705"/>
          </a:xfrm>
          <a:prstGeom prst="rect">
            <a:avLst/>
          </a:prstGeom>
          <a:noFill/>
        </p:spPr>
        <p:txBody>
          <a:bodyPr wrap="non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sym typeface="+mn-ea"/>
              </a:rPr>
              <a:t>extracts relevant keywords</a:t>
            </a:r>
            <a:endParaRPr lang="en-US" sz="1400" i="1">
              <a:solidFill>
                <a:schemeClr val="tx1">
                  <a:lumMod val="50000"/>
                  <a:lumOff val="50000"/>
                </a:schemeClr>
              </a:solidFill>
              <a:latin typeface="Times New Roman Italic" panose="02020603050405020304" charset="0"/>
              <a:cs typeface="Times New Roman Italic" panose="02020603050405020304" charset="0"/>
              <a:sym typeface="+mn-ea"/>
            </a:endParaRPr>
          </a:p>
        </p:txBody>
      </p:sp>
      <p:sp>
        <p:nvSpPr>
          <p:cNvPr id="47" name="Text Box 46"/>
          <p:cNvSpPr txBox="1"/>
          <p:nvPr/>
        </p:nvSpPr>
        <p:spPr>
          <a:xfrm>
            <a:off x="5882005" y="3068320"/>
            <a:ext cx="2540000" cy="521970"/>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AI's understanding of the image/video</a:t>
            </a:r>
            <a:endParaRPr lang="en-US" sz="1400" i="1">
              <a:solidFill>
                <a:schemeClr val="tx1">
                  <a:lumMod val="50000"/>
                  <a:lumOff val="50000"/>
                </a:schemeClr>
              </a:solidFill>
              <a:latin typeface="Times New Roman Italic" panose="02020603050405020304" charset="0"/>
              <a:cs typeface="Times New Roman Italic" panose="02020603050405020304" charset="0"/>
            </a:endParaRPr>
          </a:p>
        </p:txBody>
      </p:sp>
      <p:sp>
        <p:nvSpPr>
          <p:cNvPr id="48" name="Text Box 47"/>
          <p:cNvSpPr txBox="1"/>
          <p:nvPr/>
        </p:nvSpPr>
        <p:spPr>
          <a:xfrm>
            <a:off x="6056630" y="6038215"/>
            <a:ext cx="2540000" cy="521970"/>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Checks if keywords match our internal list</a:t>
            </a:r>
            <a:endParaRPr lang="en-US" sz="1400" i="1">
              <a:solidFill>
                <a:schemeClr val="tx1">
                  <a:lumMod val="50000"/>
                  <a:lumOff val="50000"/>
                </a:schemeClr>
              </a:solidFill>
              <a:latin typeface="Times New Roman Italic" panose="02020603050405020304" charset="0"/>
              <a:cs typeface="Times New Roman Italic" panose="02020603050405020304" charset="0"/>
            </a:endParaRPr>
          </a:p>
        </p:txBody>
      </p:sp>
      <p:sp>
        <p:nvSpPr>
          <p:cNvPr id="49" name="Text Box 48"/>
          <p:cNvSpPr txBox="1"/>
          <p:nvPr/>
        </p:nvSpPr>
        <p:spPr>
          <a:xfrm>
            <a:off x="2496185" y="6158230"/>
            <a:ext cx="2540000" cy="306705"/>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If match ≥ 70%</a:t>
            </a:r>
            <a:endParaRPr lang="en-US" sz="1400" i="1">
              <a:solidFill>
                <a:schemeClr val="tx1">
                  <a:lumMod val="50000"/>
                  <a:lumOff val="50000"/>
                </a:schemeClr>
              </a:solidFill>
              <a:latin typeface="Times New Roman Italic" panose="02020603050405020304" charset="0"/>
              <a:cs typeface="Times New Roman Italic" panose="02020603050405020304" charset="0"/>
            </a:endParaRPr>
          </a:p>
        </p:txBody>
      </p:sp>
      <p:sp>
        <p:nvSpPr>
          <p:cNvPr id="50" name="Text Box 49"/>
          <p:cNvSpPr txBox="1"/>
          <p:nvPr/>
        </p:nvSpPr>
        <p:spPr>
          <a:xfrm>
            <a:off x="280670" y="5884545"/>
            <a:ext cx="2087880" cy="521970"/>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User receives in-app rewards or points</a:t>
            </a:r>
            <a:endParaRPr lang="en-US" sz="1400" i="1">
              <a:solidFill>
                <a:schemeClr val="tx1">
                  <a:lumMod val="50000"/>
                  <a:lumOff val="50000"/>
                </a:schemeClr>
              </a:solidFill>
              <a:latin typeface="Times New Roman Italic" panose="02020603050405020304" charset="0"/>
              <a:cs typeface="Times New Roman Italic" panose="02020603050405020304" charset="0"/>
            </a:endParaRPr>
          </a:p>
        </p:txBody>
      </p:sp>
      <p:sp>
        <p:nvSpPr>
          <p:cNvPr id="51" name="Text Box 50"/>
          <p:cNvSpPr txBox="1"/>
          <p:nvPr/>
        </p:nvSpPr>
        <p:spPr>
          <a:xfrm>
            <a:off x="635" y="2793365"/>
            <a:ext cx="1941830" cy="521970"/>
          </a:xfrm>
          <a:prstGeom prst="rect">
            <a:avLst/>
          </a:prstGeom>
          <a:noFill/>
        </p:spPr>
        <p:txBody>
          <a:bodyPr wrap="square" rtlCol="0" anchor="t">
            <a:spAutoFit/>
          </a:bodyPr>
          <a:p>
            <a:pPr algn="ctr"/>
            <a:r>
              <a:rPr lang="en-US" sz="1400" i="1">
                <a:solidFill>
                  <a:schemeClr val="tx1">
                    <a:lumMod val="50000"/>
                    <a:lumOff val="50000"/>
                  </a:schemeClr>
                </a:solidFill>
                <a:latin typeface="Times New Roman Italic" panose="02020603050405020304" charset="0"/>
                <a:cs typeface="Times New Roman Italic" panose="02020603050405020304" charset="0"/>
              </a:rPr>
              <a:t>Login with the credential</a:t>
            </a:r>
            <a:endParaRPr lang="en-US" sz="1400" i="1">
              <a:solidFill>
                <a:schemeClr val="tx1">
                  <a:lumMod val="50000"/>
                  <a:lumOff val="50000"/>
                </a:schemeClr>
              </a:solidFill>
              <a:latin typeface="Times New Roman Italic" panose="02020603050405020304" charset="0"/>
              <a:cs typeface="Times New Roman Italic"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174625" y="151130"/>
            <a:ext cx="1219263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RESULT ANALYSIS</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309245" y="1211580"/>
            <a:ext cx="11924030" cy="706755"/>
          </a:xfrm>
          <a:prstGeom prst="rect">
            <a:avLst/>
          </a:prstGeom>
          <a:noFill/>
        </p:spPr>
        <p:txBody>
          <a:bodyPr wrap="square" rtlCol="0" anchor="t">
            <a:spAutoFit/>
          </a:bodyPr>
          <a:p>
            <a:pPr algn="just"/>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Authentication:</a:t>
            </a:r>
            <a:r>
              <a:rPr lang="en-US" sz="2000">
                <a:solidFill>
                  <a:schemeClr val="bg1"/>
                </a:solidFill>
                <a:latin typeface="Times New Roman Regular" panose="02020603050405020304" charset="0"/>
                <a:cs typeface="Times New Roman Regular" panose="02020603050405020304" charset="0"/>
              </a:rPr>
              <a:t> The app allows users to sign up using their email and password as intended. When users attempt to log in, their credentials are first verified to ensure authenticity before granting access.</a:t>
            </a:r>
            <a:endParaRPr lang="en-US" sz="2000">
              <a:solidFill>
                <a:schemeClr val="bg1"/>
              </a:solidFill>
              <a:latin typeface="Times New Roman Regular" panose="02020603050405020304" charset="0"/>
              <a:cs typeface="Times New Roman Regular" panose="02020603050405020304" charset="0"/>
            </a:endParaRPr>
          </a:p>
        </p:txBody>
      </p:sp>
      <p:pic>
        <p:nvPicPr>
          <p:cNvPr id="4" name="Picture 3" descr="Screenshot 2024-11-07 at 9.50.25 PM"/>
          <p:cNvPicPr>
            <a:picLocks noChangeAspect="1"/>
          </p:cNvPicPr>
          <p:nvPr/>
        </p:nvPicPr>
        <p:blipFill>
          <a:blip r:embed="rId1"/>
          <a:stretch>
            <a:fillRect/>
          </a:stretch>
        </p:blipFill>
        <p:spPr>
          <a:xfrm>
            <a:off x="1063625" y="2394585"/>
            <a:ext cx="10064750" cy="35179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154305" y="151130"/>
            <a:ext cx="1219263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RESULT ANALYSIS</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308610" y="1115060"/>
            <a:ext cx="11883390" cy="1014730"/>
          </a:xfrm>
          <a:prstGeom prst="rect">
            <a:avLst/>
          </a:prstGeom>
          <a:noFill/>
        </p:spPr>
        <p:txBody>
          <a:bodyPr wrap="square" rtlCol="0" anchor="t">
            <a:spAutoFit/>
          </a:bodyPr>
          <a:p>
            <a:pPr algn="l"/>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NoSQL Storage:</a:t>
            </a:r>
            <a:r>
              <a:rPr lang="en-US" sz="2000">
                <a:solidFill>
                  <a:schemeClr val="bg1"/>
                </a:solidFill>
                <a:latin typeface="Times New Roman Regular" panose="02020603050405020304" charset="0"/>
                <a:cs typeface="Times New Roman Regular" panose="02020603050405020304" charset="0"/>
              </a:rPr>
              <a:t> In MongoDB, we successfully store user information such as the username, user ID, and password. Additionally, we store the URLs of media files uploaded by users to Firebase Storage, allowing seamless retrieval and access to these files within the app.</a:t>
            </a:r>
            <a:endParaRPr lang="en-US" sz="2000">
              <a:solidFill>
                <a:schemeClr val="bg1"/>
              </a:solidFill>
              <a:latin typeface="Times New Roman Regular" panose="02020603050405020304" charset="0"/>
              <a:cs typeface="Times New Roman Regular" panose="02020603050405020304" charset="0"/>
            </a:endParaRPr>
          </a:p>
        </p:txBody>
      </p:sp>
      <p:pic>
        <p:nvPicPr>
          <p:cNvPr id="5" name="Picture 4" descr="Screenshot 2024-11-07 at 9.53.39 PM"/>
          <p:cNvPicPr>
            <a:picLocks noChangeAspect="1"/>
          </p:cNvPicPr>
          <p:nvPr/>
        </p:nvPicPr>
        <p:blipFill>
          <a:blip r:embed="rId1"/>
          <a:stretch>
            <a:fillRect/>
          </a:stretch>
        </p:blipFill>
        <p:spPr>
          <a:xfrm>
            <a:off x="661670" y="2386965"/>
            <a:ext cx="10439400" cy="38989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174625" y="151130"/>
            <a:ext cx="1219263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RESULT ANALYSIS</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376555" y="1048385"/>
            <a:ext cx="11788775" cy="706755"/>
          </a:xfrm>
          <a:prstGeom prst="rect">
            <a:avLst/>
          </a:prstGeom>
          <a:noFill/>
        </p:spPr>
        <p:txBody>
          <a:bodyPr wrap="square" rtlCol="0" anchor="t">
            <a:spAutoFit/>
          </a:bodyPr>
          <a:p>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Media Storage:</a:t>
            </a:r>
            <a:r>
              <a:rPr lang="en-US" sz="2000">
                <a:gradFill>
                  <a:gsLst>
                    <a:gs pos="50000">
                      <a:srgbClr val="92D050"/>
                    </a:gs>
                    <a:gs pos="0">
                      <a:srgbClr val="00B050"/>
                    </a:gs>
                    <a:gs pos="100000">
                      <a:srgbClr val="FAEF56"/>
                    </a:gs>
                  </a:gsLst>
                  <a:lin ang="0" scaled="0"/>
                </a:gradFill>
                <a:latin typeface="Times New Roman Regular" panose="02020603050405020304" charset="0"/>
                <a:cs typeface="Times New Roman Regular" panose="02020603050405020304" charset="0"/>
              </a:rPr>
              <a:t> </a:t>
            </a:r>
            <a:r>
              <a:rPr lang="en-US" sz="2000">
                <a:solidFill>
                  <a:schemeClr val="bg1"/>
                </a:solidFill>
                <a:latin typeface="Times New Roman Regular" panose="02020603050405020304" charset="0"/>
                <a:cs typeface="Times New Roman Regular" panose="02020603050405020304" charset="0"/>
              </a:rPr>
              <a:t>We store media in Firebase Storage, and the URLs generated by Firebase are saved in </a:t>
            </a:r>
            <a:endParaRPr lang="en-US" sz="2000">
              <a:solidFill>
                <a:schemeClr val="bg1"/>
              </a:solidFill>
              <a:latin typeface="Times New Roman Regular" panose="02020603050405020304" charset="0"/>
              <a:cs typeface="Times New Roman Regular" panose="02020603050405020304" charset="0"/>
            </a:endParaRPr>
          </a:p>
          <a:p>
            <a:r>
              <a:rPr lang="en-US" sz="2000">
                <a:solidFill>
                  <a:schemeClr val="bg1"/>
                </a:solidFill>
                <a:latin typeface="Times New Roman Regular" panose="02020603050405020304" charset="0"/>
                <a:cs typeface="Times New Roman Regular" panose="02020603050405020304" charset="0"/>
              </a:rPr>
              <a:t>MongoDB. These URLs are then used to access the media files within the app.</a:t>
            </a:r>
            <a:endParaRPr lang="en-US" sz="2000">
              <a:solidFill>
                <a:schemeClr val="bg1"/>
              </a:solidFill>
              <a:latin typeface="Times New Roman Regular" panose="02020603050405020304" charset="0"/>
              <a:cs typeface="Times New Roman Regular" panose="02020603050405020304" charset="0"/>
            </a:endParaRPr>
          </a:p>
        </p:txBody>
      </p:sp>
      <p:pic>
        <p:nvPicPr>
          <p:cNvPr id="4" name="Picture 3" descr="Screenshot 2024-11-07 at 9.55.35 PM"/>
          <p:cNvPicPr>
            <a:picLocks noChangeAspect="1"/>
          </p:cNvPicPr>
          <p:nvPr/>
        </p:nvPicPr>
        <p:blipFill>
          <a:blip r:embed="rId1"/>
          <a:stretch>
            <a:fillRect/>
          </a:stretch>
        </p:blipFill>
        <p:spPr>
          <a:xfrm>
            <a:off x="767715" y="2449830"/>
            <a:ext cx="10407650" cy="33274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174625" y="151130"/>
            <a:ext cx="1219263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RESULT ANALYSIS</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376555" y="1048385"/>
            <a:ext cx="11788775" cy="1014730"/>
          </a:xfrm>
          <a:prstGeom prst="rect">
            <a:avLst/>
          </a:prstGeom>
          <a:noFill/>
        </p:spPr>
        <p:txBody>
          <a:bodyPr wrap="square" rtlCol="0" anchor="t">
            <a:spAutoFit/>
          </a:bodyPr>
          <a:p>
            <a:pPr algn="just"/>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Server:</a:t>
            </a:r>
            <a:r>
              <a:rPr lang="en-US" sz="2000">
                <a:gradFill>
                  <a:gsLst>
                    <a:gs pos="50000">
                      <a:srgbClr val="92D050"/>
                    </a:gs>
                    <a:gs pos="0">
                      <a:srgbClr val="00B050"/>
                    </a:gs>
                    <a:gs pos="100000">
                      <a:srgbClr val="FAEF56"/>
                    </a:gs>
                  </a:gsLst>
                  <a:lin ang="0" scaled="0"/>
                </a:gradFill>
                <a:latin typeface="Times New Roman Regular" panose="02020603050405020304" charset="0"/>
                <a:cs typeface="Times New Roman Regular" panose="02020603050405020304" charset="0"/>
              </a:rPr>
              <a:t> </a:t>
            </a:r>
            <a:r>
              <a:rPr lang="en-US" sz="2000">
                <a:solidFill>
                  <a:schemeClr val="bg1"/>
                </a:solidFill>
                <a:latin typeface="Times New Roman Regular" panose="02020603050405020304" charset="0"/>
                <a:cs typeface="Times New Roman Regular" panose="02020603050405020304" charset="0"/>
              </a:rPr>
              <a:t>The server is functioning as expected, successfully handling requests and sending appropriate responses to the app. All requests return a status code of 200, indicating that they are processed correctly and without errors.</a:t>
            </a:r>
            <a:endParaRPr lang="en-US" sz="2000">
              <a:solidFill>
                <a:schemeClr val="bg1"/>
              </a:solidFill>
              <a:latin typeface="Times New Roman Regular" panose="02020603050405020304" charset="0"/>
              <a:cs typeface="Times New Roman Regular" panose="02020603050405020304" charset="0"/>
            </a:endParaRPr>
          </a:p>
        </p:txBody>
      </p:sp>
      <p:pic>
        <p:nvPicPr>
          <p:cNvPr id="5" name="Picture 4" descr="Screenshot 2024-11-07 at 10.00.02 PM"/>
          <p:cNvPicPr>
            <a:picLocks noChangeAspect="1"/>
          </p:cNvPicPr>
          <p:nvPr/>
        </p:nvPicPr>
        <p:blipFill>
          <a:blip r:embed="rId1"/>
          <a:stretch>
            <a:fillRect/>
          </a:stretch>
        </p:blipFill>
        <p:spPr>
          <a:xfrm>
            <a:off x="672465" y="2430780"/>
            <a:ext cx="10420985" cy="3520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174625" y="167640"/>
            <a:ext cx="1219263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APP OVERVIEW </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pic>
        <p:nvPicPr>
          <p:cNvPr id="4" name="Picture 3" descr="WhatsApp Image 2025-04-15 at 08.58.54"/>
          <p:cNvPicPr>
            <a:picLocks noChangeAspect="1"/>
          </p:cNvPicPr>
          <p:nvPr/>
        </p:nvPicPr>
        <p:blipFill>
          <a:blip r:embed="rId1"/>
          <a:srcRect l="-615" t="6183" r="615" b="13727"/>
          <a:stretch>
            <a:fillRect/>
          </a:stretch>
        </p:blipFill>
        <p:spPr>
          <a:xfrm>
            <a:off x="8512810" y="0"/>
            <a:ext cx="3560445" cy="6757670"/>
          </a:xfrm>
          <a:prstGeom prst="rect">
            <a:avLst/>
          </a:prstGeom>
        </p:spPr>
      </p:pic>
      <p:pic>
        <p:nvPicPr>
          <p:cNvPr id="6" name="Picture 5" descr="WhatsApp Image 2025-04-15 at 09.01.14 (1)"/>
          <p:cNvPicPr>
            <a:picLocks noChangeAspect="1"/>
          </p:cNvPicPr>
          <p:nvPr/>
        </p:nvPicPr>
        <p:blipFill>
          <a:blip r:embed="rId2"/>
          <a:stretch>
            <a:fillRect/>
          </a:stretch>
        </p:blipFill>
        <p:spPr>
          <a:xfrm>
            <a:off x="345440" y="1555115"/>
            <a:ext cx="1950720" cy="4354830"/>
          </a:xfrm>
          <a:prstGeom prst="rect">
            <a:avLst/>
          </a:prstGeom>
        </p:spPr>
      </p:pic>
      <p:pic>
        <p:nvPicPr>
          <p:cNvPr id="7" name="Picture 6" descr="WhatsApp Image 2025-04-15 at 09.01.14"/>
          <p:cNvPicPr>
            <a:picLocks noChangeAspect="1"/>
          </p:cNvPicPr>
          <p:nvPr/>
        </p:nvPicPr>
        <p:blipFill>
          <a:blip r:embed="rId3"/>
          <a:stretch>
            <a:fillRect/>
          </a:stretch>
        </p:blipFill>
        <p:spPr>
          <a:xfrm>
            <a:off x="5788025" y="1555115"/>
            <a:ext cx="1917700" cy="4281170"/>
          </a:xfrm>
          <a:prstGeom prst="rect">
            <a:avLst/>
          </a:prstGeom>
        </p:spPr>
      </p:pic>
      <p:pic>
        <p:nvPicPr>
          <p:cNvPr id="9" name="Picture 8" descr="WhatsApp Image 2025-04-15 at 09.01.15"/>
          <p:cNvPicPr>
            <a:picLocks noChangeAspect="1"/>
          </p:cNvPicPr>
          <p:nvPr/>
        </p:nvPicPr>
        <p:blipFill>
          <a:blip r:embed="rId4"/>
          <a:stretch>
            <a:fillRect/>
          </a:stretch>
        </p:blipFill>
        <p:spPr>
          <a:xfrm>
            <a:off x="3082925" y="1555115"/>
            <a:ext cx="1917700" cy="428117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252095" y="558800"/>
            <a:ext cx="4330065" cy="706755"/>
          </a:xfrm>
          <a:prstGeom prst="rect">
            <a:avLst/>
          </a:prstGeom>
          <a:noFill/>
        </p:spPr>
        <p:txBody>
          <a:bodyPr wrap="non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sym typeface="+mn-ea"/>
              </a:rPr>
              <a:t>OBSERVATION</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sym typeface="+mn-ea"/>
            </a:endParaRPr>
          </a:p>
        </p:txBody>
      </p:sp>
      <p:sp>
        <p:nvSpPr>
          <p:cNvPr id="4" name="Text Box 3"/>
          <p:cNvSpPr txBox="1"/>
          <p:nvPr/>
        </p:nvSpPr>
        <p:spPr>
          <a:xfrm>
            <a:off x="362585" y="3843655"/>
            <a:ext cx="5996305" cy="2245360"/>
          </a:xfrm>
          <a:prstGeom prst="rect">
            <a:avLst/>
          </a:prstGeom>
          <a:noFill/>
        </p:spPr>
        <p:txBody>
          <a:bodyPr wrap="square" rtlCol="0" anchor="t">
            <a:spAutoFit/>
          </a:bodyPr>
          <a:p>
            <a:pPr marL="342900" indent="-342900" algn="just">
              <a:buFont typeface="Wingdings" panose="05000000000000000000" charset="0"/>
              <a:buChar char=""/>
            </a:pPr>
            <a:r>
              <a:rPr lang="en-US" sz="2000">
                <a:solidFill>
                  <a:schemeClr val="bg1"/>
                </a:solidFill>
                <a:latin typeface="Times New Roman Regular" panose="02020603050405020304" charset="0"/>
                <a:cs typeface="Times New Roman Regular" panose="02020603050405020304" charset="0"/>
              </a:rPr>
              <a:t>We observe that the Cloud service takes 1-2 minutes to rebuild the server if there happens to be a downtime of 15 minutes. This makes the users wait before using the app.</a:t>
            </a:r>
            <a:endParaRPr lang="en-US" sz="2000">
              <a:solidFill>
                <a:schemeClr val="bg1"/>
              </a:solidFill>
              <a:latin typeface="Times New Roman Regular" panose="02020603050405020304" charset="0"/>
              <a:cs typeface="Times New Roman Regular" panose="02020603050405020304" charset="0"/>
            </a:endParaRPr>
          </a:p>
          <a:p>
            <a:pPr marL="342900" indent="-342900" algn="just">
              <a:buFont typeface="Wingdings" panose="05000000000000000000" charset="0"/>
              <a:buChar char=""/>
            </a:pPr>
            <a:endParaRPr lang="en-US" sz="2000">
              <a:solidFill>
                <a:schemeClr val="bg1"/>
              </a:solidFill>
              <a:latin typeface="Times New Roman Regular" panose="02020603050405020304" charset="0"/>
              <a:cs typeface="Times New Roman Regular" panose="02020603050405020304" charset="0"/>
            </a:endParaRPr>
          </a:p>
          <a:p>
            <a:pPr marL="342900" indent="-342900" algn="just">
              <a:buFont typeface="Wingdings" panose="05000000000000000000" charset="0"/>
              <a:buChar char=""/>
            </a:pPr>
            <a:r>
              <a:rPr lang="en-US" sz="2000">
                <a:solidFill>
                  <a:schemeClr val="bg1"/>
                </a:solidFill>
                <a:latin typeface="Times New Roman Regular" panose="02020603050405020304" charset="0"/>
                <a:cs typeface="Times New Roman Regular" panose="02020603050405020304" charset="0"/>
              </a:rPr>
              <a:t>The uploading and storing of the media takes approximately 1.5 minutes.</a:t>
            </a:r>
            <a:endParaRPr lang="en-US" sz="2000">
              <a:solidFill>
                <a:schemeClr val="bg1"/>
              </a:solidFill>
              <a:latin typeface="Times New Roman Regular" panose="02020603050405020304" charset="0"/>
              <a:cs typeface="Times New Roman Regular" panose="02020603050405020304" charset="0"/>
            </a:endParaRPr>
          </a:p>
        </p:txBody>
      </p:sp>
      <p:sp>
        <p:nvSpPr>
          <p:cNvPr id="3" name="Text Box 2"/>
          <p:cNvSpPr txBox="1"/>
          <p:nvPr/>
        </p:nvSpPr>
        <p:spPr>
          <a:xfrm>
            <a:off x="362585" y="1431925"/>
            <a:ext cx="5996305" cy="2245360"/>
          </a:xfrm>
          <a:prstGeom prst="rect">
            <a:avLst/>
          </a:prstGeom>
          <a:noFill/>
        </p:spPr>
        <p:txBody>
          <a:bodyPr wrap="square" rtlCol="0" anchor="t">
            <a:spAutoFit/>
          </a:bodyPr>
          <a:p>
            <a:pPr algn="just"/>
            <a:r>
              <a:rPr lang="en-US" sz="2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App:</a:t>
            </a:r>
            <a:r>
              <a:rPr lang="en-US" sz="2000">
                <a:solidFill>
                  <a:schemeClr val="bg1"/>
                </a:solidFill>
                <a:latin typeface="Times New Roman Regular" panose="02020603050405020304" charset="0"/>
                <a:cs typeface="Times New Roman Regular" panose="02020603050405020304" charset="0"/>
              </a:rPr>
              <a:t> The app performs and functions as intended, with smooth navigation from the Home page to the Profile page. Users can successfully upload media, and video thumbnails are generated as expected. The Search page enables users to find and connect with others seamlessly. Overall, the app operates efficiently and meets all design expectations.</a:t>
            </a:r>
            <a:endParaRPr lang="en-US" sz="2000">
              <a:solidFill>
                <a:schemeClr val="bg1"/>
              </a:solidFill>
              <a:latin typeface="Times New Roman Regular" panose="02020603050405020304" charset="0"/>
              <a:cs typeface="Times New Roman Regular" panose="02020603050405020304" charset="0"/>
            </a:endParaRPr>
          </a:p>
        </p:txBody>
      </p:sp>
      <p:pic>
        <p:nvPicPr>
          <p:cNvPr id="5" name="Picture 4" descr="view-futuristic-city-with-lots-vegetation-greenery_23-2150842850-transformed"/>
          <p:cNvPicPr>
            <a:picLocks noChangeAspect="1"/>
          </p:cNvPicPr>
          <p:nvPr/>
        </p:nvPicPr>
        <p:blipFill>
          <a:blip r:embed="rId1"/>
          <a:stretch>
            <a:fillRect/>
          </a:stretch>
        </p:blipFill>
        <p:spPr>
          <a:xfrm>
            <a:off x="6639560" y="280035"/>
            <a:ext cx="5200650" cy="629856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5269230" y="301625"/>
            <a:ext cx="5145405"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CONCLUSION</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5269230" y="1008380"/>
            <a:ext cx="6798310" cy="5507990"/>
          </a:xfrm>
          <a:prstGeom prst="rect">
            <a:avLst/>
          </a:prstGeom>
          <a:noFill/>
        </p:spPr>
        <p:txBody>
          <a:bodyPr wrap="square" rtlCol="0" anchor="t">
            <a:spAutoFit/>
          </a:bodyPr>
          <a:p>
            <a:pPr algn="just"/>
            <a:r>
              <a:rPr lang="en-US" sz="1600">
                <a:solidFill>
                  <a:schemeClr val="bg1"/>
                </a:solidFill>
              </a:rPr>
              <a:t>The app effectively meets its goals by providing a platform for users to sign up, log in, and interact with environmental initiatives. It ensures secure authentication, storing user information in MongoDB, while media uploads are managed via Firebase Storage. Server communication is efficient, with requests processed and validated correctly, providing a smooth, user-friendly experience.By integrating Firebase and MongoDB, the app allows users to document their environmental activities, such as tree planting or clean-up drives, by uploading images and videos. Video thumbnails enhance the experience, while the Search page helps users connect and engage with other advocates, fostering a strong community. This integration supports the app's mission to showcase and recognize individual contributions to environmental sustainability.Addressing the issue of limited visibility for grassroots efforts, the app fills a crucial gap by offering a space for users to track and share their activities. This motivates continued efforts and inspires others to join. The rewards system further encourages participation and recognition of contributions.</a:t>
            </a:r>
            <a:endParaRPr lang="en-US" sz="1600">
              <a:solidFill>
                <a:schemeClr val="bg1"/>
              </a:solidFill>
            </a:endParaRPr>
          </a:p>
          <a:p>
            <a:pPr algn="just"/>
            <a:endParaRPr lang="en-US" sz="1600">
              <a:solidFill>
                <a:schemeClr val="bg1"/>
              </a:solidFill>
            </a:endParaRPr>
          </a:p>
          <a:p>
            <a:pPr algn="just"/>
            <a:r>
              <a:rPr lang="en-US" sz="1600">
                <a:solidFill>
                  <a:schemeClr val="bg1"/>
                </a:solidFill>
              </a:rPr>
              <a:t>Looking forward, future AI integration will enhance the app’s capabilities by providing personalized recommendations, advanced data analysis, and automated recognition of contributions. These improvements will make the app an even more powerful tool for environmental advocacy, helping create a more sustainable and environmentally conscious future.</a:t>
            </a:r>
            <a:endParaRPr lang="en-US" sz="1600">
              <a:solidFill>
                <a:schemeClr val="bg1"/>
              </a:solidFill>
            </a:endParaRPr>
          </a:p>
        </p:txBody>
      </p:sp>
      <p:pic>
        <p:nvPicPr>
          <p:cNvPr id="4" name="Picture 3" descr="green-plane-sustainable-energy-concept"/>
          <p:cNvPicPr>
            <a:picLocks noChangeAspect="1"/>
          </p:cNvPicPr>
          <p:nvPr/>
        </p:nvPicPr>
        <p:blipFill>
          <a:blip r:embed="rId1">
            <a:lum bright="6000" contrast="24000"/>
          </a:blip>
          <a:stretch>
            <a:fillRect/>
          </a:stretch>
        </p:blipFill>
        <p:spPr>
          <a:xfrm>
            <a:off x="304800" y="227330"/>
            <a:ext cx="4673600" cy="64027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353695" y="295275"/>
            <a:ext cx="5226050"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FUTURE SCOPE</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7" name="Text Box 6"/>
          <p:cNvSpPr txBox="1"/>
          <p:nvPr/>
        </p:nvSpPr>
        <p:spPr>
          <a:xfrm>
            <a:off x="353695" y="1002030"/>
            <a:ext cx="6629400" cy="5631180"/>
          </a:xfrm>
          <a:prstGeom prst="rect">
            <a:avLst/>
          </a:prstGeom>
          <a:noFill/>
        </p:spPr>
        <p:txBody>
          <a:bodyPr wrap="square" rtlCol="0" anchor="t">
            <a:spAutoFit/>
          </a:bodyPr>
          <a:p>
            <a:pPr algn="just"/>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Environmental Data Analysis &amp; Predictive Analytics: </a:t>
            </a:r>
            <a:r>
              <a:rPr lang="en-US">
                <a:solidFill>
                  <a:schemeClr val="bg1"/>
                </a:solidFill>
                <a:latin typeface="Times New Roman Regular" panose="02020603050405020304" charset="0"/>
                <a:cs typeface="Times New Roman Regular" panose="02020603050405020304" charset="0"/>
              </a:rPr>
              <a:t>Use AI for tree species identification and health monitoring, along with personalized activity suggestions based on user behavior.</a:t>
            </a:r>
            <a:endParaRPr lang="en-US">
              <a:solidFill>
                <a:schemeClr val="bg1"/>
              </a:solidFill>
              <a:latin typeface="Times New Roman Regular" panose="02020603050405020304" charset="0"/>
              <a:cs typeface="Times New Roman Regular" panose="02020603050405020304" charset="0"/>
            </a:endParaRPr>
          </a:p>
          <a:p>
            <a:pPr algn="just"/>
            <a:endParaRPr lang="en-US">
              <a:solidFill>
                <a:schemeClr val="bg1"/>
              </a:solidFill>
              <a:latin typeface="Times New Roman Regular" panose="02020603050405020304" charset="0"/>
              <a:cs typeface="Times New Roman Regular" panose="02020603050405020304" charset="0"/>
            </a:endParaRPr>
          </a:p>
          <a:p>
            <a:pPr algn="just"/>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Sentiment Analysis &amp; Recognition: </a:t>
            </a:r>
            <a:r>
              <a:rPr lang="en-US">
                <a:solidFill>
                  <a:schemeClr val="bg1"/>
                </a:solidFill>
                <a:latin typeface="Times New Roman Regular" panose="02020603050405020304" charset="0"/>
                <a:cs typeface="Times New Roman Regular" panose="02020603050405020304" charset="0"/>
              </a:rPr>
              <a:t>AI to analyze feedback, identify trends, and automate rewards for user contributions.</a:t>
            </a:r>
            <a:endParaRPr lang="en-US">
              <a:solidFill>
                <a:schemeClr val="bg1"/>
              </a:solidFill>
              <a:latin typeface="Times New Roman Regular" panose="02020603050405020304" charset="0"/>
              <a:cs typeface="Times New Roman Regular" panose="02020603050405020304" charset="0"/>
            </a:endParaRPr>
          </a:p>
          <a:p>
            <a:pPr algn="just"/>
            <a:endParaRPr lang="en-US">
              <a:solidFill>
                <a:schemeClr val="bg1"/>
              </a:solidFill>
              <a:latin typeface="Times New Roman Regular" panose="02020603050405020304" charset="0"/>
              <a:cs typeface="Times New Roman Regular" panose="02020603050405020304" charset="0"/>
            </a:endParaRPr>
          </a:p>
          <a:p>
            <a:pPr algn="just"/>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Impact Tracking &amp; Scalable Storage: </a:t>
            </a:r>
            <a:r>
              <a:rPr lang="en-US">
                <a:solidFill>
                  <a:schemeClr val="bg1"/>
                </a:solidFill>
                <a:latin typeface="Times New Roman Regular" panose="02020603050405020304" charset="0"/>
                <a:cs typeface="Times New Roman Regular" panose="02020603050405020304" charset="0"/>
              </a:rPr>
              <a:t>AI to track environmental impact, while Firebase Cloud Storage and MongoDB sharding manage growing user data and media.</a:t>
            </a:r>
            <a:endParaRPr lang="en-US">
              <a:solidFill>
                <a:schemeClr val="bg1"/>
              </a:solidFill>
              <a:latin typeface="Times New Roman Regular" panose="02020603050405020304" charset="0"/>
              <a:cs typeface="Times New Roman Regular" panose="02020603050405020304" charset="0"/>
            </a:endParaRPr>
          </a:p>
          <a:p>
            <a:pPr algn="just"/>
            <a:endParaRPr lang="en-US">
              <a:solidFill>
                <a:schemeClr val="bg1"/>
              </a:solidFill>
              <a:latin typeface="Times New Roman Regular" panose="02020603050405020304" charset="0"/>
              <a:cs typeface="Times New Roman Regular" panose="02020603050405020304" charset="0"/>
            </a:endParaRPr>
          </a:p>
          <a:p>
            <a:pPr algn="just"/>
            <a:r>
              <a:rPr lang="en-US">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AI Chatbot &amp; Hybrid Storage:</a:t>
            </a:r>
            <a:r>
              <a:rPr lang="en-US">
                <a:solidFill>
                  <a:schemeClr val="bg1"/>
                </a:solidFill>
                <a:latin typeface="Times New Roman Regular" panose="02020603050405020304" charset="0"/>
                <a:cs typeface="Times New Roman Regular" panose="02020603050405020304" charset="0"/>
              </a:rPr>
              <a:t> An AI chatbot for environmental education, paired with a hybrid storage model for cost-effective data management.</a:t>
            </a:r>
            <a:endParaRPr lang="en-US">
              <a:solidFill>
                <a:schemeClr val="bg1"/>
              </a:solidFill>
              <a:latin typeface="Times New Roman Regular" panose="02020603050405020304" charset="0"/>
              <a:cs typeface="Times New Roman Regular" panose="02020603050405020304" charset="0"/>
            </a:endParaRPr>
          </a:p>
          <a:p>
            <a:pPr algn="just"/>
            <a:endParaRPr lang="en-US">
              <a:solidFill>
                <a:schemeClr val="bg1"/>
              </a:solidFill>
              <a:latin typeface="Times New Roman Regular" panose="02020603050405020304" charset="0"/>
              <a:cs typeface="Times New Roman Regular" panose="02020603050405020304" charset="0"/>
            </a:endParaRPr>
          </a:p>
          <a:p>
            <a:pPr algn="just"/>
            <a:r>
              <a:rPr lang="en-US">
                <a:gradFill>
                  <a:gsLst>
                    <a:gs pos="0">
                      <a:srgbClr val="21FF80"/>
                    </a:gs>
                    <a:gs pos="49000">
                      <a:srgbClr val="92D050"/>
                    </a:gs>
                    <a:gs pos="100000">
                      <a:srgbClr val="FFFF00"/>
                    </a:gs>
                  </a:gsLst>
                  <a:lin ang="18420000" scaled="0"/>
                </a:gradFill>
                <a:latin typeface="Arial Black" panose="020B0A04020102020204" charset="0"/>
                <a:cs typeface="Arial Black" panose="020B0A04020102020204" charset="0"/>
              </a:rPr>
              <a:t>Predictive Analytics for Activity Suggestions:</a:t>
            </a:r>
            <a:r>
              <a:rPr lang="en-US">
                <a:solidFill>
                  <a:schemeClr val="bg1"/>
                </a:solidFill>
                <a:latin typeface="Times New Roman Regular" panose="02020603050405020304" charset="0"/>
                <a:cs typeface="Times New Roman Regular" panose="02020603050405020304" charset="0"/>
              </a:rPr>
              <a:t> Use machine learning to predict future environmental activities that users might be interested in based on their past behaviour. This can enhance user engagement by offering personalized activity recommendations.</a:t>
            </a:r>
            <a:endParaRPr lang="en-US">
              <a:solidFill>
                <a:schemeClr val="bg1"/>
              </a:solidFill>
              <a:latin typeface="Times New Roman Regular" panose="02020603050405020304" charset="0"/>
              <a:cs typeface="Times New Roman Regular" panose="02020603050405020304" charset="0"/>
            </a:endParaRPr>
          </a:p>
        </p:txBody>
      </p:sp>
      <p:pic>
        <p:nvPicPr>
          <p:cNvPr id="5" name="Picture 4" descr="Manas-Bhatia-sustainable-green-cities-three-buildings-on-Thursd"/>
          <p:cNvPicPr>
            <a:picLocks noChangeAspect="1"/>
          </p:cNvPicPr>
          <p:nvPr/>
        </p:nvPicPr>
        <p:blipFill>
          <a:blip r:embed="rId1"/>
          <a:stretch>
            <a:fillRect/>
          </a:stretch>
        </p:blipFill>
        <p:spPr>
          <a:xfrm>
            <a:off x="7115810" y="295275"/>
            <a:ext cx="4798695" cy="622490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2" name="Text Box 1"/>
          <p:cNvSpPr txBox="1"/>
          <p:nvPr/>
        </p:nvSpPr>
        <p:spPr>
          <a:xfrm>
            <a:off x="5363210" y="149860"/>
            <a:ext cx="4406900" cy="706755"/>
          </a:xfrm>
          <a:prstGeom prst="rect">
            <a:avLst/>
          </a:prstGeom>
          <a:noFill/>
        </p:spPr>
        <p:txBody>
          <a:bodyPr wrap="square" rtlCol="0" anchor="t">
            <a:spAutoFit/>
          </a:bodyPr>
          <a:p>
            <a:r>
              <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REFERENCE</a:t>
            </a:r>
            <a:endParaRPr lang="en-US" sz="4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sp>
        <p:nvSpPr>
          <p:cNvPr id="3" name="Text Box 2"/>
          <p:cNvSpPr txBox="1"/>
          <p:nvPr/>
        </p:nvSpPr>
        <p:spPr>
          <a:xfrm>
            <a:off x="5457190" y="856615"/>
            <a:ext cx="6554470" cy="5908040"/>
          </a:xfrm>
          <a:prstGeom prst="rect">
            <a:avLst/>
          </a:prstGeom>
          <a:noFill/>
        </p:spPr>
        <p:txBody>
          <a:bodyPr wrap="square" rtlCol="0" anchor="t">
            <a:spAutoFit/>
          </a:bodyPr>
          <a:p>
            <a:r>
              <a:rPr lang="en-US" sz="1400">
                <a:solidFill>
                  <a:schemeClr val="bg1"/>
                </a:solidFill>
              </a:rPr>
              <a:t>1.https://firebase.google.com</a:t>
            </a:r>
            <a:endParaRPr lang="en-US" sz="1400">
              <a:solidFill>
                <a:schemeClr val="bg1"/>
              </a:solidFill>
            </a:endParaRPr>
          </a:p>
          <a:p>
            <a:r>
              <a:rPr lang="en-US" sz="1400">
                <a:solidFill>
                  <a:schemeClr val="bg1"/>
                </a:solidFill>
              </a:rPr>
              <a:t>2. https://docs.flutter.dev</a:t>
            </a:r>
            <a:endParaRPr lang="en-US" sz="1400">
              <a:solidFill>
                <a:schemeClr val="bg1"/>
              </a:solidFill>
            </a:endParaRPr>
          </a:p>
          <a:p>
            <a:r>
              <a:rPr lang="en-US" sz="1400">
                <a:solidFill>
                  <a:schemeClr val="bg1"/>
                </a:solidFill>
              </a:rPr>
              <a:t>3. https://developer.android.com</a:t>
            </a:r>
            <a:endParaRPr lang="en-US" sz="1400">
              <a:solidFill>
                <a:schemeClr val="bg1"/>
              </a:solidFill>
            </a:endParaRPr>
          </a:p>
          <a:p>
            <a:r>
              <a:rPr lang="en-US" sz="1400">
                <a:solidFill>
                  <a:schemeClr val="bg1"/>
                </a:solidFill>
              </a:rPr>
              <a:t>4. https://github.com/Vidit2207/flask-video-processing-api.git</a:t>
            </a:r>
            <a:endParaRPr lang="en-US" sz="1400">
              <a:solidFill>
                <a:schemeClr val="bg1"/>
              </a:solidFill>
            </a:endParaRPr>
          </a:p>
          <a:p>
            <a:r>
              <a:rPr lang="en-US" sz="1400">
                <a:solidFill>
                  <a:schemeClr val="bg1"/>
                </a:solidFill>
              </a:rPr>
              <a:t>5. Shubov, Marianna A. "Flutter phenomenon in aeroelasticity and its mathematical analysis." Journal of Aerospace Engineering 19.1 (2006): 1-12.</a:t>
            </a:r>
            <a:endParaRPr lang="en-US" sz="1400">
              <a:solidFill>
                <a:schemeClr val="bg1"/>
              </a:solidFill>
            </a:endParaRPr>
          </a:p>
          <a:p>
            <a:r>
              <a:rPr lang="en-US" sz="1400">
                <a:solidFill>
                  <a:schemeClr val="bg1"/>
                </a:solidFill>
              </a:rPr>
              <a:t>6. Annette, J. Ruby, W. Aisha Banu, and P. Subash Chandran. "Rendering-as-a-service: taxonomy and comparison." Procedia Computer Science 50 (2015): 276-281.</a:t>
            </a:r>
            <a:endParaRPr lang="en-US" sz="1400">
              <a:solidFill>
                <a:schemeClr val="bg1"/>
              </a:solidFill>
            </a:endParaRPr>
          </a:p>
          <a:p>
            <a:r>
              <a:rPr lang="en-US" sz="1400">
                <a:solidFill>
                  <a:schemeClr val="bg1"/>
                </a:solidFill>
              </a:rPr>
              <a:t>7. Samanta, Ashis Kumar, and Nabendu Chaki. "Performance monitoring of mongodb on varied cluster </a:t>
            </a:r>
            <a:endParaRPr lang="en-US" sz="1400">
              <a:solidFill>
                <a:schemeClr val="bg1"/>
              </a:solidFill>
            </a:endParaRPr>
          </a:p>
          <a:p>
            <a:r>
              <a:rPr lang="en-US" sz="1400">
                <a:solidFill>
                  <a:schemeClr val="bg1"/>
                </a:solidFill>
              </a:rPr>
              <a:t>configuration: An experimental approach." 2021 International Conference on Innovation and Intelligence for Informatics, Computing, and Technologies (3ICT). IEEE, 2021.</a:t>
            </a:r>
            <a:endParaRPr lang="en-US" sz="1400">
              <a:solidFill>
                <a:schemeClr val="bg1"/>
              </a:solidFill>
            </a:endParaRPr>
          </a:p>
          <a:p>
            <a:r>
              <a:rPr lang="en-US" sz="1400">
                <a:solidFill>
                  <a:schemeClr val="bg1"/>
                </a:solidFill>
              </a:rPr>
              <a:t>8. Moroney, Laurence, and Laurence Moroney. "The firebase realtime database." The Definitive Guide to </a:t>
            </a:r>
            <a:endParaRPr lang="en-US" sz="1400">
              <a:solidFill>
                <a:schemeClr val="bg1"/>
              </a:solidFill>
            </a:endParaRPr>
          </a:p>
          <a:p>
            <a:r>
              <a:rPr lang="en-US" sz="1400">
                <a:solidFill>
                  <a:schemeClr val="bg1"/>
                </a:solidFill>
              </a:rPr>
              <a:t>Firebase: Build Android Apps on Google's Mobile Platform (2017): 51-71</a:t>
            </a:r>
            <a:endParaRPr lang="en-US" sz="1400">
              <a:solidFill>
                <a:schemeClr val="bg1"/>
              </a:solidFill>
            </a:endParaRPr>
          </a:p>
          <a:p>
            <a:r>
              <a:rPr lang="en-US" sz="1400">
                <a:solidFill>
                  <a:schemeClr val="bg1"/>
                </a:solidFill>
              </a:rPr>
              <a:t>9. Rootes, Christopher. "Environmental movements." The Blackwell companion to social movements (2004): 608-640.</a:t>
            </a:r>
            <a:endParaRPr lang="en-US" sz="1400">
              <a:solidFill>
                <a:schemeClr val="bg1"/>
              </a:solidFill>
            </a:endParaRPr>
          </a:p>
          <a:p>
            <a:r>
              <a:rPr lang="en-US" sz="1400">
                <a:solidFill>
                  <a:schemeClr val="bg1"/>
                </a:solidFill>
              </a:rPr>
              <a:t>10. Giugni, Marco, and Maria T. Grasso. "Environmental movements in advanced industrial democracies: </a:t>
            </a:r>
            <a:endParaRPr lang="en-US" sz="1400">
              <a:solidFill>
                <a:schemeClr val="bg1"/>
              </a:solidFill>
            </a:endParaRPr>
          </a:p>
          <a:p>
            <a:r>
              <a:rPr lang="en-US" sz="1400">
                <a:solidFill>
                  <a:schemeClr val="bg1"/>
                </a:solidFill>
              </a:rPr>
              <a:t>Heterogeneity, transformation, and institutionalization." Annual Review of Environment and Resources </a:t>
            </a:r>
            <a:endParaRPr lang="en-US" sz="1400">
              <a:solidFill>
                <a:schemeClr val="bg1"/>
              </a:solidFill>
            </a:endParaRPr>
          </a:p>
          <a:p>
            <a:r>
              <a:rPr lang="en-US" sz="1400">
                <a:solidFill>
                  <a:schemeClr val="bg1"/>
                </a:solidFill>
              </a:rPr>
              <a:t>40.1 (2015): 337-361.</a:t>
            </a:r>
            <a:endParaRPr lang="en-US" sz="1400">
              <a:solidFill>
                <a:schemeClr val="bg1"/>
              </a:solidFill>
            </a:endParaRPr>
          </a:p>
          <a:p>
            <a:r>
              <a:rPr lang="en-US" sz="1400">
                <a:solidFill>
                  <a:schemeClr val="bg1"/>
                </a:solidFill>
              </a:rPr>
              <a:t>11. Gülcüoğlu, Ekrem, Ahmet Berk Ustun, and Neşet Seyhan. "Comparison of Flutter and React Native Platforms." İnternet Uygulamaları ve Yönetimi Dergisi 12.2 (2021): 129-143.</a:t>
            </a:r>
            <a:endParaRPr lang="en-US" sz="1400">
              <a:solidFill>
                <a:schemeClr val="bg1"/>
              </a:solidFill>
            </a:endParaRPr>
          </a:p>
        </p:txBody>
      </p:sp>
      <p:pic>
        <p:nvPicPr>
          <p:cNvPr id="4" name="Picture 3" descr="9hrEruE0E9cIfRLDRdLCN"/>
          <p:cNvPicPr>
            <a:picLocks noChangeAspect="1"/>
          </p:cNvPicPr>
          <p:nvPr/>
        </p:nvPicPr>
        <p:blipFill>
          <a:blip r:embed="rId1"/>
          <a:stretch>
            <a:fillRect/>
          </a:stretch>
        </p:blipFill>
        <p:spPr>
          <a:xfrm>
            <a:off x="356235" y="322580"/>
            <a:ext cx="4832350" cy="621347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12836">
            <a:alpha val="96000"/>
          </a:srgbClr>
        </a:solidFill>
        <a:effectLst/>
      </p:bgPr>
    </p:bg>
    <p:spTree>
      <p:nvGrpSpPr>
        <p:cNvPr id="1" name=""/>
        <p:cNvGrpSpPr/>
        <p:nvPr/>
      </p:nvGrpSpPr>
      <p:grpSpPr/>
      <p:sp>
        <p:nvSpPr>
          <p:cNvPr id="4" name="Text Box 3"/>
          <p:cNvSpPr txBox="1"/>
          <p:nvPr/>
        </p:nvSpPr>
        <p:spPr>
          <a:xfrm>
            <a:off x="0" y="2350135"/>
            <a:ext cx="12191365" cy="1322070"/>
          </a:xfrm>
          <a:prstGeom prst="rect">
            <a:avLst/>
          </a:prstGeom>
          <a:noFill/>
        </p:spPr>
        <p:txBody>
          <a:bodyPr wrap="square" rtlCol="0">
            <a:spAutoFit/>
          </a:bodyPr>
          <a:p>
            <a:pPr algn="ctr"/>
            <a:r>
              <a:rPr lang="en-US" sz="8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rPr>
              <a:t>THANK YOU</a:t>
            </a:r>
            <a:endParaRPr lang="en-US" sz="8000">
              <a:gradFill>
                <a:gsLst>
                  <a:gs pos="50000">
                    <a:srgbClr val="92D050"/>
                  </a:gs>
                  <a:gs pos="0">
                    <a:srgbClr val="00B050"/>
                  </a:gs>
                  <a:gs pos="100000">
                    <a:srgbClr val="FAEF56"/>
                  </a:gs>
                </a:gsLst>
                <a:lin ang="0" scaled="0"/>
              </a:gradFill>
              <a:latin typeface="Arial Black" panose="020B0A04020102020204" charset="0"/>
              <a:cs typeface="Arial Black" panose="020B0A04020102020204" charset="0"/>
            </a:endParaRPr>
          </a:p>
        </p:txBody>
      </p:sp>
      <p:pic>
        <p:nvPicPr>
          <p:cNvPr id="11" name="Picture 10"/>
          <p:cNvPicPr>
            <a:picLocks noChangeAspect="1"/>
          </p:cNvPicPr>
          <p:nvPr/>
        </p:nvPicPr>
        <p:blipFill>
          <a:blip r:embed="rId1"/>
          <a:stretch>
            <a:fillRect/>
          </a:stretch>
        </p:blipFill>
        <p:spPr>
          <a:xfrm>
            <a:off x="5412740" y="3672205"/>
            <a:ext cx="1367155" cy="838200"/>
          </a:xfrm>
          <a:prstGeom prst="rect">
            <a:avLst/>
          </a:prstGeom>
        </p:spPr>
      </p:pic>
      <p:pic>
        <p:nvPicPr>
          <p:cNvPr id="2" name="Picture 1" descr="pngtree-vector-illustration-of-natural-green-abstract-background-free-graphics-pngtree-image_738102"/>
          <p:cNvPicPr>
            <a:picLocks noChangeAspect="1"/>
          </p:cNvPicPr>
          <p:nvPr/>
        </p:nvPicPr>
        <p:blipFill>
          <a:blip r:embed="rId2"/>
          <a:stretch>
            <a:fillRect/>
          </a:stretch>
        </p:blipFill>
        <p:spPr>
          <a:xfrm>
            <a:off x="635" y="4884420"/>
            <a:ext cx="12191365" cy="1973580"/>
          </a:xfrm>
          <a:prstGeom prst="rect">
            <a:avLst/>
          </a:prstGeom>
        </p:spPr>
      </p:pic>
      <p:pic>
        <p:nvPicPr>
          <p:cNvPr id="3" name="Picture 2" descr="pngtree-vector-illustration-of-natural-green-abstract-background-free-graphics-pngtree-image_738102"/>
          <p:cNvPicPr>
            <a:picLocks noChangeAspect="1"/>
          </p:cNvPicPr>
          <p:nvPr/>
        </p:nvPicPr>
        <p:blipFill>
          <a:blip r:embed="rId2"/>
          <a:stretch>
            <a:fillRect/>
          </a:stretch>
        </p:blipFill>
        <p:spPr>
          <a:xfrm rot="10800000">
            <a:off x="635" y="0"/>
            <a:ext cx="12191365" cy="19735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12704</Words>
  <Application>WPS Presentation</Application>
  <PresentationFormat>Widescreen</PresentationFormat>
  <Paragraphs>215</Paragraphs>
  <Slides>19</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19</vt:i4>
      </vt:variant>
    </vt:vector>
  </HeadingPairs>
  <TitlesOfParts>
    <vt:vector size="36" baseType="lpstr">
      <vt:lpstr>Arial</vt:lpstr>
      <vt:lpstr>SimSun</vt:lpstr>
      <vt:lpstr>Wingdings</vt:lpstr>
      <vt:lpstr>Arial Black</vt:lpstr>
      <vt:lpstr>Times New Roman Regular</vt:lpstr>
      <vt:lpstr>Times New Roman Bold</vt:lpstr>
      <vt:lpstr>Wingdings</vt:lpstr>
      <vt:lpstr>Times New Roman</vt:lpstr>
      <vt:lpstr>Times New Roman Italic</vt:lpstr>
      <vt:lpstr>Microsoft YaHei</vt:lpstr>
      <vt:lpstr>汉仪旗黑</vt:lpstr>
      <vt:lpstr>Arial Unicode MS</vt:lpstr>
      <vt:lpstr>Calibri Light</vt:lpstr>
      <vt:lpstr>Helvetica Neue</vt:lpstr>
      <vt:lpstr>Calibri</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diptabanik</dc:creator>
  <cp:lastModifiedBy>diptabanik</cp:lastModifiedBy>
  <cp:revision>7</cp:revision>
  <dcterms:created xsi:type="dcterms:W3CDTF">2025-04-16T00:15:26Z</dcterms:created>
  <dcterms:modified xsi:type="dcterms:W3CDTF">2025-04-16T00:15:26Z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1033-5.7.0.8090</vt:lpwstr>
  </property>
</Properties>
</file>